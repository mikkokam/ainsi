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7829"/>
  <p:notesSz cx="6857829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4699039"/>
            <a:ext cx="10530696" cy="82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0"/>
              </a:lnSpc>
              <a:buNone/>
            </a:pPr>
            <a:r>
              <a:rPr lang="en-US" sz="616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Acme </a:t>
            </a:r>
            <a:pPr algn="l" indent="0" marL="0">
              <a:lnSpc>
                <a:spcPts val="6470"/>
              </a:lnSpc>
              <a:buNone/>
            </a:pPr>
            <a:r>
              <a:rPr lang="en-US" sz="6160" dirty="0">
                <a:solidFill>
                  <a:srgbClr val="FFFFFF"/>
                </a:solidFill>
                <a:highlight>
                  <a:srgbClr val="CDD4F7"/>
                </a:highlight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Gatekeeper</a:t>
            </a:r>
            <a:endParaRPr lang="en-US" sz="6160" dirty="0"/>
          </a:p>
        </p:txBody>
      </p:sp>
      <p:sp>
        <p:nvSpPr>
          <p:cNvPr id="4" name="Text 1"/>
          <p:cNvSpPr/>
          <p:nvPr/>
        </p:nvSpPr>
        <p:spPr>
          <a:xfrm>
            <a:off x="830500" y="5659028"/>
            <a:ext cx="10530696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Enforcement and policy solution for production AI</a:t>
            </a:r>
            <a:endParaRPr lang="en-US" sz="18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1549066"/>
            <a:ext cx="10530696" cy="63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we will cover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830500" y="2758292"/>
            <a:ext cx="486137" cy="36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01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547139" y="2821092"/>
            <a:ext cx="1430753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problem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3070201" y="2821092"/>
            <a:ext cx="4473117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governance lags adoption in enforcement</a:t>
            </a:r>
            <a:endParaRPr lang="en-US" sz="1810" dirty="0"/>
          </a:p>
        </p:txBody>
      </p:sp>
      <p:sp>
        <p:nvSpPr>
          <p:cNvPr id="7" name="Text 4"/>
          <p:cNvSpPr/>
          <p:nvPr/>
        </p:nvSpPr>
        <p:spPr>
          <a:xfrm>
            <a:off x="830500" y="3430120"/>
            <a:ext cx="535690" cy="36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02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1596692" y="3492920"/>
            <a:ext cx="1443019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gateway</a:t>
            </a:r>
            <a:endParaRPr lang="en-US" sz="1810" dirty="0"/>
          </a:p>
        </p:txBody>
      </p:sp>
      <p:sp>
        <p:nvSpPr>
          <p:cNvPr id="9" name="Text 6"/>
          <p:cNvSpPr/>
          <p:nvPr/>
        </p:nvSpPr>
        <p:spPr>
          <a:xfrm>
            <a:off x="3132020" y="3492920"/>
            <a:ext cx="4924655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deterministic door in front of every model</a:t>
            </a:r>
            <a:endParaRPr lang="en-US" sz="1810" dirty="0"/>
          </a:p>
        </p:txBody>
      </p:sp>
      <p:sp>
        <p:nvSpPr>
          <p:cNvPr id="10" name="Text 7"/>
          <p:cNvSpPr/>
          <p:nvPr/>
        </p:nvSpPr>
        <p:spPr>
          <a:xfrm>
            <a:off x="830500" y="4101949"/>
            <a:ext cx="546811" cy="36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03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607813" y="4164749"/>
            <a:ext cx="666197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Proof</a:t>
            </a:r>
            <a:endParaRPr lang="en-US" sz="1810" dirty="0"/>
          </a:p>
        </p:txBody>
      </p:sp>
      <p:sp>
        <p:nvSpPr>
          <p:cNvPr id="12" name="Text 9"/>
          <p:cNvSpPr/>
          <p:nvPr/>
        </p:nvSpPr>
        <p:spPr>
          <a:xfrm>
            <a:off x="2366318" y="4164749"/>
            <a:ext cx="4004570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a customer got in under an hour</a:t>
            </a:r>
            <a:endParaRPr lang="en-US" sz="1810" dirty="0"/>
          </a:p>
        </p:txBody>
      </p:sp>
      <p:sp>
        <p:nvSpPr>
          <p:cNvPr id="13" name="Text 10"/>
          <p:cNvSpPr/>
          <p:nvPr/>
        </p:nvSpPr>
        <p:spPr>
          <a:xfrm>
            <a:off x="830500" y="4773778"/>
            <a:ext cx="553026" cy="36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04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614027" y="4836578"/>
            <a:ext cx="2343806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Roadmap and pricing</a:t>
            </a:r>
            <a:endParaRPr lang="en-US" sz="1810" dirty="0"/>
          </a:p>
        </p:txBody>
      </p:sp>
      <p:sp>
        <p:nvSpPr>
          <p:cNvPr id="15" name="Text 12"/>
          <p:cNvSpPr/>
          <p:nvPr/>
        </p:nvSpPr>
        <p:spPr>
          <a:xfrm>
            <a:off x="4050142" y="4836578"/>
            <a:ext cx="3587866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where this goes and what it costs</a:t>
            </a:r>
            <a:endParaRPr lang="en-US" sz="1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74395" y="1062366"/>
            <a:ext cx="4986801" cy="252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Fast-growing companies adopt AI faster than they can control it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6374395" y="3722860"/>
            <a:ext cx="4986801" cy="2072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fifty-person </a:t>
            </a:r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highlight>
                  <a:srgbClr val="CDD4F7"/>
                </a:highlight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engineering team</a:t>
            </a:r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might now connect eight model </a:t>
            </a:r>
            <a:pPr algn="l" indent="0" marL="0">
              <a:lnSpc>
                <a:spcPts val="2720"/>
              </a:lnSpc>
              <a:buNone/>
            </a:pPr>
            <a:r>
              <a:rPr lang="en-US" sz="1540" dirty="0">
                <a:solidFill>
                  <a:srgbClr val="111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providers</a:t>
            </a:r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across product, support, and </a:t>
            </a:r>
            <a:pPr algn="l" indent="0" marL="0">
              <a:lnSpc>
                <a:spcPts val="2720"/>
              </a:lnSpc>
              <a:buNone/>
            </a:pPr>
            <a:r>
              <a:rPr lang="en-US" sz="1540" dirty="0">
                <a:solidFill>
                  <a:srgbClr val="CF222E"/>
                </a:solidFill>
                <a:highlight>
                  <a:srgbClr val="F1F5FE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internal</a:t>
            </a:r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tools - with zero unified audit trail, unpredictable monthly token invoices, and no automated compliance checks.</a:t>
            </a:r>
            <a:endParaRPr lang="en-US" sz="1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1277096"/>
            <a:ext cx="10530696" cy="63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that costs them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1117188" y="2897629"/>
            <a:ext cx="2926341" cy="63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Customer audit failures when enterprise clients ask</a:t>
            </a:r>
            <a:endParaRPr lang="en-US" sz="1670" dirty="0"/>
          </a:p>
        </p:txBody>
      </p:sp>
      <p:sp>
        <p:nvSpPr>
          <p:cNvPr id="5" name="Text 2"/>
          <p:cNvSpPr/>
          <p:nvPr/>
        </p:nvSpPr>
        <p:spPr>
          <a:xfrm>
            <a:off x="4872593" y="2897629"/>
            <a:ext cx="2926341" cy="63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Surprise token spikes discovered only at billing</a:t>
            </a:r>
            <a:endParaRPr lang="en-US" sz="1670" dirty="0"/>
          </a:p>
        </p:txBody>
      </p:sp>
      <p:sp>
        <p:nvSpPr>
          <p:cNvPr id="6" name="Text 3"/>
          <p:cNvSpPr/>
          <p:nvPr/>
        </p:nvSpPr>
        <p:spPr>
          <a:xfrm>
            <a:off x="1117188" y="4658808"/>
            <a:ext cx="2926341" cy="63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Fragmented policies written in ad-hoc prompt code</a:t>
            </a:r>
            <a:endParaRPr lang="en-US" sz="1670" dirty="0"/>
          </a:p>
        </p:txBody>
      </p:sp>
      <p:sp>
        <p:nvSpPr>
          <p:cNvPr id="7" name="Text 4"/>
          <p:cNvSpPr/>
          <p:nvPr/>
        </p:nvSpPr>
        <p:spPr>
          <a:xfrm>
            <a:off x="4872593" y="4658808"/>
            <a:ext cx="2926341" cy="635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Unchecked PII and secret leaks across </a:t>
            </a:r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highlight>
                  <a:srgbClr val="C2CCF6"/>
                </a:highlight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shadow tools</a:t>
            </a:r>
            <a:endParaRPr lang="en-US" sz="1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736591"/>
            <a:ext cx="4986801" cy="2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0"/>
              </a:lnSpc>
              <a:buNone/>
            </a:pPr>
            <a:r>
              <a:rPr lang="en-US" sz="150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does it work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830500" y="1149861"/>
            <a:ext cx="4986801" cy="157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20"/>
              </a:lnSpc>
              <a:buNone/>
            </a:pPr>
            <a:r>
              <a:rPr lang="en-US" sz="375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single deterministic gateway in front of every model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830500" y="2858379"/>
            <a:ext cx="4986801" cy="172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outbound LLM call passes through Acme before reaching upstream providers.</a:t>
            </a:r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Policies</a:t>
            </a:r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evaluate through Open Policy Agent </a:t>
            </a:r>
            <a:pPr algn="l" indent="0" marL="0">
              <a:lnSpc>
                <a:spcPts val="2720"/>
              </a:lnSpc>
              <a:buNone/>
            </a:pPr>
            <a:r>
              <a:rPr lang="en-US" sz="1540" dirty="0">
                <a:solidFill>
                  <a:srgbClr val="CF222E"/>
                </a:solidFill>
                <a:highlight>
                  <a:srgbClr val="F1F5FE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(OPA)</a:t>
            </a:r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, keeping rules declarative, version-controlled, and testable in CI/CD.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1471256" y="5069134"/>
            <a:ext cx="4125427" cy="86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Zero changes to existing application code: swap one base URL in your client configuration and enforce policy on day one.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1851454"/>
            <a:ext cx="10530696" cy="63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Acme protects your workload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830500" y="3198709"/>
            <a:ext cx="2425086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Enforce</a:t>
            </a:r>
            <a:endParaRPr lang="en-US" sz="1810" dirty="0"/>
          </a:p>
        </p:txBody>
      </p:sp>
      <p:sp>
        <p:nvSpPr>
          <p:cNvPr id="5" name="Text 2"/>
          <p:cNvSpPr/>
          <p:nvPr/>
        </p:nvSpPr>
        <p:spPr>
          <a:xfrm>
            <a:off x="830500" y="3624571"/>
            <a:ext cx="2425086" cy="103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OPA inspects and validates requests before egress.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3532206" y="3198709"/>
            <a:ext cx="2425249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Record</a:t>
            </a:r>
            <a:endParaRPr lang="en-US" sz="1810" dirty="0"/>
          </a:p>
        </p:txBody>
      </p:sp>
      <p:sp>
        <p:nvSpPr>
          <p:cNvPr id="7" name="Text 4"/>
          <p:cNvSpPr/>
          <p:nvPr/>
        </p:nvSpPr>
        <p:spPr>
          <a:xfrm>
            <a:off x="3532206" y="3624571"/>
            <a:ext cx="2425249" cy="1381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Immutable event stream of prompt hashes, latency, and tokens.</a:t>
            </a:r>
            <a:endParaRPr lang="en-US" sz="1810" dirty="0"/>
          </a:p>
        </p:txBody>
      </p:sp>
      <p:sp>
        <p:nvSpPr>
          <p:cNvPr id="8" name="Text 5"/>
          <p:cNvSpPr/>
          <p:nvPr/>
        </p:nvSpPr>
        <p:spPr>
          <a:xfrm>
            <a:off x="6234076" y="3198709"/>
            <a:ext cx="2425249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Redact</a:t>
            </a:r>
            <a:endParaRPr lang="en-US" sz="1810" dirty="0"/>
          </a:p>
        </p:txBody>
      </p:sp>
      <p:sp>
        <p:nvSpPr>
          <p:cNvPr id="9" name="Text 6"/>
          <p:cNvSpPr/>
          <p:nvPr/>
        </p:nvSpPr>
        <p:spPr>
          <a:xfrm>
            <a:off x="6234076" y="3624571"/>
            <a:ext cx="2425249" cy="103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Real-time PII masking and secret prevention at the wire.</a:t>
            </a:r>
            <a:endParaRPr lang="en-US" sz="1810" dirty="0"/>
          </a:p>
        </p:txBody>
      </p:sp>
      <p:sp>
        <p:nvSpPr>
          <p:cNvPr id="10" name="Text 7"/>
          <p:cNvSpPr/>
          <p:nvPr/>
        </p:nvSpPr>
        <p:spPr>
          <a:xfrm>
            <a:off x="8935946" y="3198709"/>
            <a:ext cx="2425249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Comply</a:t>
            </a:r>
            <a:endParaRPr lang="en-US" sz="1810" dirty="0"/>
          </a:p>
        </p:txBody>
      </p:sp>
      <p:sp>
        <p:nvSpPr>
          <p:cNvPr id="11" name="Text 8"/>
          <p:cNvSpPr/>
          <p:nvPr/>
        </p:nvSpPr>
        <p:spPr>
          <a:xfrm>
            <a:off x="8935946" y="3624571"/>
            <a:ext cx="2425249" cy="1381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Instant audit packages for ISO 27001, SOC 2, and GDPR.</a:t>
            </a:r>
            <a:endParaRPr lang="en-US" sz="18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878545"/>
            <a:ext cx="10530696" cy="55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97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Operating with &amp; without Acme</a:t>
            </a:r>
            <a:endParaRPr lang="en-US" sz="3970" dirty="0"/>
          </a:p>
        </p:txBody>
      </p:sp>
      <p:sp>
        <p:nvSpPr>
          <p:cNvPr id="4" name="Text 1"/>
          <p:cNvSpPr/>
          <p:nvPr/>
        </p:nvSpPr>
        <p:spPr>
          <a:xfrm>
            <a:off x="830500" y="1885470"/>
            <a:ext cx="5137423" cy="581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0"/>
              </a:lnSpc>
              <a:buNone/>
            </a:pPr>
            <a:r>
              <a:rPr lang="en-US" sz="276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Today</a:t>
            </a:r>
            <a:endParaRPr lang="en-US" sz="2760" dirty="0"/>
          </a:p>
        </p:txBody>
      </p:sp>
      <p:sp>
        <p:nvSpPr>
          <p:cNvPr id="5" name="Text 2"/>
          <p:cNvSpPr/>
          <p:nvPr/>
        </p:nvSpPr>
        <p:spPr>
          <a:xfrm>
            <a:off x="830500" y="2607343"/>
            <a:ext cx="5137423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Audit trail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830500" y="2864430"/>
            <a:ext cx="5137423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Ad-hoc log queries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0500" y="3310081"/>
            <a:ext cx="5137423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Cost allocation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830500" y="3567168"/>
            <a:ext cx="5137423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Aggregate month-end bill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00" y="4012819"/>
            <a:ext cx="5137423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Policy enforcement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30500" y="4269906"/>
            <a:ext cx="5137423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Confluence guidelines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0500" y="4715557"/>
            <a:ext cx="5137423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Provider onboarding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830500" y="4972644"/>
            <a:ext cx="5137423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Weeks of security review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0500" y="5418295"/>
            <a:ext cx="5137423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 residency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830500" y="5675382"/>
            <a:ext cx="5137423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Unknown routing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23609" y="1885470"/>
            <a:ext cx="5137586" cy="581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0"/>
              </a:lnSpc>
              <a:buNone/>
            </a:pPr>
            <a:r>
              <a:rPr lang="en-US" sz="276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With Acme</a:t>
            </a:r>
            <a:endParaRPr lang="en-US" sz="2760" dirty="0"/>
          </a:p>
        </p:txBody>
      </p:sp>
      <p:sp>
        <p:nvSpPr>
          <p:cNvPr id="16" name="Text 13"/>
          <p:cNvSpPr/>
          <p:nvPr/>
        </p:nvSpPr>
        <p:spPr>
          <a:xfrm>
            <a:off x="6223609" y="2607343"/>
            <a:ext cx="5137586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Audit trail</a:t>
            </a:r>
            <a:endParaRPr lang="en-US" sz="1240" dirty="0"/>
          </a:p>
        </p:txBody>
      </p:sp>
      <p:sp>
        <p:nvSpPr>
          <p:cNvPr id="17" name="Text 14"/>
          <p:cNvSpPr/>
          <p:nvPr/>
        </p:nvSpPr>
        <p:spPr>
          <a:xfrm>
            <a:off x="6223609" y="2864430"/>
            <a:ext cx="5137586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Signed event stream (7 yrs)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23609" y="3310081"/>
            <a:ext cx="5137586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Cost allocation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6223609" y="3567168"/>
            <a:ext cx="5137586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Per-team attribution, live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23609" y="4012819"/>
            <a:ext cx="5137586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Policy enforcement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6223609" y="4269906"/>
            <a:ext cx="5137586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Declarative OPA bundles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23609" y="4715557"/>
            <a:ext cx="5137586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Provider onboarding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6223609" y="4972644"/>
            <a:ext cx="5137586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15-minute credential update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23609" y="5418295"/>
            <a:ext cx="5137586" cy="23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24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 residency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6223609" y="5675382"/>
            <a:ext cx="5137586" cy="3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16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Guaranteed EU-only egress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2960" y="2300866"/>
            <a:ext cx="10258235" cy="184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263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When our enterprise bank clients asked for our AI data governance records, we delivered verified OPA enforcement logs in under an hour. Acme turned a potential sales blocker into our strongest trust proof.</a:t>
            </a:r>
            <a:endParaRPr lang="en-US" sz="2630" dirty="0"/>
          </a:p>
        </p:txBody>
      </p:sp>
      <p:sp>
        <p:nvSpPr>
          <p:cNvPr id="4" name="Text 1"/>
          <p:cNvSpPr/>
          <p:nvPr/>
        </p:nvSpPr>
        <p:spPr>
          <a:xfrm>
            <a:off x="830500" y="4270233"/>
            <a:ext cx="10530696" cy="2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60"/>
              </a:lnSpc>
              <a:buNone/>
            </a:pPr>
            <a:r>
              <a:rPr lang="en-US" sz="15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VP of Engineering, Series B Fintech (Stockholm)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1517666"/>
            <a:ext cx="10530696" cy="63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Where Acme plays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1417450" y="2830577"/>
            <a:ext cx="4569933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Prompt guidelines</a:t>
            </a:r>
            <a:endParaRPr lang="en-US" sz="1810" dirty="0"/>
          </a:p>
        </p:txBody>
      </p:sp>
      <p:sp>
        <p:nvSpPr>
          <p:cNvPr id="5" name="Text 2"/>
          <p:cNvSpPr/>
          <p:nvPr/>
        </p:nvSpPr>
        <p:spPr>
          <a:xfrm>
            <a:off x="1417450" y="3256439"/>
            <a:ext cx="4569933" cy="31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cheap, and nobody follows them</a:t>
            </a:r>
            <a:endParaRPr lang="en-US" sz="1670" dirty="0"/>
          </a:p>
        </p:txBody>
      </p:sp>
      <p:sp>
        <p:nvSpPr>
          <p:cNvPr id="6" name="Text 3"/>
          <p:cNvSpPr/>
          <p:nvPr/>
        </p:nvSpPr>
        <p:spPr>
          <a:xfrm>
            <a:off x="6504574" y="2830577"/>
            <a:ext cx="4580400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ACME: Gateway policy</a:t>
            </a:r>
            <a:endParaRPr lang="en-US" sz="1810" dirty="0"/>
          </a:p>
        </p:txBody>
      </p:sp>
      <p:sp>
        <p:nvSpPr>
          <p:cNvPr id="7" name="Text 4"/>
          <p:cNvSpPr/>
          <p:nvPr/>
        </p:nvSpPr>
        <p:spPr>
          <a:xfrm>
            <a:off x="6504574" y="3256439"/>
            <a:ext cx="4580400" cy="31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URL swap, every call governed</a:t>
            </a:r>
            <a:endParaRPr lang="en-US" sz="1670" dirty="0"/>
          </a:p>
        </p:txBody>
      </p:sp>
      <p:sp>
        <p:nvSpPr>
          <p:cNvPr id="8" name="Text 5"/>
          <p:cNvSpPr/>
          <p:nvPr/>
        </p:nvSpPr>
        <p:spPr>
          <a:xfrm>
            <a:off x="1417450" y="4045037"/>
            <a:ext cx="4569933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Manual audits</a:t>
            </a:r>
            <a:endParaRPr lang="en-US" sz="1810" dirty="0"/>
          </a:p>
        </p:txBody>
      </p:sp>
      <p:sp>
        <p:nvSpPr>
          <p:cNvPr id="9" name="Text 6"/>
          <p:cNvSpPr/>
          <p:nvPr/>
        </p:nvSpPr>
        <p:spPr>
          <a:xfrm>
            <a:off x="1417450" y="4470899"/>
            <a:ext cx="4569933" cy="31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weeks of work per review</a:t>
            </a:r>
            <a:endParaRPr lang="en-US" sz="1670" dirty="0"/>
          </a:p>
        </p:txBody>
      </p:sp>
      <p:sp>
        <p:nvSpPr>
          <p:cNvPr id="10" name="Text 7"/>
          <p:cNvSpPr/>
          <p:nvPr/>
        </p:nvSpPr>
        <p:spPr>
          <a:xfrm>
            <a:off x="6504574" y="4045037"/>
            <a:ext cx="4580400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Model retraining</a:t>
            </a:r>
            <a:endParaRPr lang="en-US" sz="1810" dirty="0"/>
          </a:p>
        </p:txBody>
      </p:sp>
      <p:sp>
        <p:nvSpPr>
          <p:cNvPr id="11" name="Text 8"/>
          <p:cNvSpPr/>
          <p:nvPr/>
        </p:nvSpPr>
        <p:spPr>
          <a:xfrm>
            <a:off x="6504574" y="4470899"/>
            <a:ext cx="4580400" cy="31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months, and the risk moves elsewhere</a:t>
            </a:r>
            <a:endParaRPr lang="en-US" sz="1670" dirty="0"/>
          </a:p>
        </p:txBody>
      </p:sp>
      <p:sp>
        <p:nvSpPr>
          <p:cNvPr id="12" name="Text 9"/>
          <p:cNvSpPr/>
          <p:nvPr/>
        </p:nvSpPr>
        <p:spPr>
          <a:xfrm>
            <a:off x="1141229" y="5029230"/>
            <a:ext cx="10219967" cy="310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0"/>
              </a:lnSpc>
              <a:buNone/>
            </a:pPr>
            <a:r>
              <a:rPr lang="en-US" sz="1360" b="1" dirty="0">
                <a:solidFill>
                  <a:srgbClr val="5B62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effort to adopt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 rot="16200000">
            <a:off x="-228595" y="3659406"/>
            <a:ext cx="2474639" cy="310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0"/>
              </a:lnSpc>
              <a:buNone/>
            </a:pPr>
            <a:r>
              <a:rPr lang="en-US" sz="1360" b="1" dirty="0">
                <a:solidFill>
                  <a:srgbClr val="5B62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impact on risk</a:t>
            </a:r>
            <a:endParaRPr lang="en-US" sz="13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2112957"/>
            <a:ext cx="10530696" cy="63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Acme by the numbers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830500" y="3195602"/>
            <a:ext cx="2425086" cy="44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33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 min</a:t>
            </a:r>
            <a:endParaRPr lang="en-US" sz="3330" dirty="0"/>
          </a:p>
        </p:txBody>
      </p:sp>
      <p:sp>
        <p:nvSpPr>
          <p:cNvPr id="5" name="Text 2"/>
          <p:cNvSpPr/>
          <p:nvPr/>
        </p:nvSpPr>
        <p:spPr>
          <a:xfrm>
            <a:off x="830500" y="3708468"/>
            <a:ext cx="2425086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 first governed call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3532206" y="3195602"/>
            <a:ext cx="2425249" cy="44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33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500 000</a:t>
            </a:r>
            <a:endParaRPr lang="en-US" sz="3330" dirty="0"/>
          </a:p>
        </p:txBody>
      </p:sp>
      <p:sp>
        <p:nvSpPr>
          <p:cNvPr id="7" name="Text 4"/>
          <p:cNvSpPr/>
          <p:nvPr/>
        </p:nvSpPr>
        <p:spPr>
          <a:xfrm>
            <a:off x="3532206" y="3708468"/>
            <a:ext cx="2425249" cy="103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avg requests a day through customers' gateways</a:t>
            </a:r>
            <a:endParaRPr lang="en-US" sz="1810" dirty="0"/>
          </a:p>
        </p:txBody>
      </p:sp>
      <p:sp>
        <p:nvSpPr>
          <p:cNvPr id="8" name="Text 5"/>
          <p:cNvSpPr/>
          <p:nvPr/>
        </p:nvSpPr>
        <p:spPr>
          <a:xfrm>
            <a:off x="6234076" y="3195602"/>
            <a:ext cx="2425249" cy="44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33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$2.4M</a:t>
            </a:r>
            <a:endParaRPr lang="en-US" sz="3330" dirty="0"/>
          </a:p>
        </p:txBody>
      </p:sp>
      <p:sp>
        <p:nvSpPr>
          <p:cNvPr id="9" name="Text 6"/>
          <p:cNvSpPr/>
          <p:nvPr/>
        </p:nvSpPr>
        <p:spPr>
          <a:xfrm>
            <a:off x="6234076" y="3708468"/>
            <a:ext cx="2425249" cy="103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 token spend attributed to teams last quarter</a:t>
            </a:r>
            <a:endParaRPr lang="en-US" sz="1810" dirty="0"/>
          </a:p>
        </p:txBody>
      </p:sp>
      <p:sp>
        <p:nvSpPr>
          <p:cNvPr id="10" name="Text 7"/>
          <p:cNvSpPr/>
          <p:nvPr/>
        </p:nvSpPr>
        <p:spPr>
          <a:xfrm>
            <a:off x="8935946" y="3195602"/>
            <a:ext cx="2425249" cy="44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330" b="1" dirty="0">
                <a:solidFill>
                  <a:srgbClr val="3653E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200 Mtok/s</a:t>
            </a:r>
            <a:endParaRPr lang="en-US" sz="3330" dirty="0"/>
          </a:p>
        </p:txBody>
      </p:sp>
      <p:sp>
        <p:nvSpPr>
          <p:cNvPr id="11" name="Text 8"/>
          <p:cNvSpPr/>
          <p:nvPr/>
        </p:nvSpPr>
        <p:spPr>
          <a:xfrm>
            <a:off x="8935946" y="3708468"/>
            <a:ext cx="2425249" cy="69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peak throughput, no added latency</a:t>
            </a:r>
            <a:endParaRPr lang="en-US" sz="18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1872387"/>
            <a:ext cx="10530696" cy="63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Product roadmap \ 2027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830500" y="3300432"/>
            <a:ext cx="2440786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Q1</a:t>
            </a:r>
            <a:endParaRPr lang="en-US" sz="1810" dirty="0"/>
          </a:p>
        </p:txBody>
      </p:sp>
      <p:sp>
        <p:nvSpPr>
          <p:cNvPr id="5" name="Text 2"/>
          <p:cNvSpPr/>
          <p:nvPr/>
        </p:nvSpPr>
        <p:spPr>
          <a:xfrm>
            <a:off x="830500" y="3714846"/>
            <a:ext cx="2440786" cy="95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Turnkey OPA policy bundles for basic compliance.</a:t>
            </a:r>
            <a:endParaRPr lang="en-US" sz="1670" dirty="0"/>
          </a:p>
        </p:txBody>
      </p:sp>
      <p:sp>
        <p:nvSpPr>
          <p:cNvPr id="6" name="Text 3"/>
          <p:cNvSpPr/>
          <p:nvPr/>
        </p:nvSpPr>
        <p:spPr>
          <a:xfrm>
            <a:off x="3526973" y="3300432"/>
            <a:ext cx="2440949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Q2</a:t>
            </a:r>
            <a:endParaRPr lang="en-US" sz="1810" dirty="0"/>
          </a:p>
        </p:txBody>
      </p:sp>
      <p:sp>
        <p:nvSpPr>
          <p:cNvPr id="7" name="Text 4"/>
          <p:cNvSpPr/>
          <p:nvPr/>
        </p:nvSpPr>
        <p:spPr>
          <a:xfrm>
            <a:off x="3526973" y="3714846"/>
            <a:ext cx="2440949" cy="127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Real-time semantic budget limits and anomalous spend throttling.</a:t>
            </a:r>
            <a:endParaRPr lang="en-US" sz="1670" dirty="0"/>
          </a:p>
        </p:txBody>
      </p:sp>
      <p:sp>
        <p:nvSpPr>
          <p:cNvPr id="8" name="Text 5"/>
          <p:cNvSpPr/>
          <p:nvPr/>
        </p:nvSpPr>
        <p:spPr>
          <a:xfrm>
            <a:off x="6223609" y="3300432"/>
            <a:ext cx="2440949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Q3</a:t>
            </a:r>
            <a:endParaRPr lang="en-US" sz="1810" dirty="0"/>
          </a:p>
        </p:txBody>
      </p:sp>
      <p:sp>
        <p:nvSpPr>
          <p:cNvPr id="9" name="Text 6"/>
          <p:cNvSpPr/>
          <p:nvPr/>
        </p:nvSpPr>
        <p:spPr>
          <a:xfrm>
            <a:off x="6223609" y="3714846"/>
            <a:ext cx="2440949" cy="95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Air-gapped on-premise appliances and self-hosted VPC agents.</a:t>
            </a:r>
            <a:endParaRPr lang="en-US" sz="1670" dirty="0"/>
          </a:p>
        </p:txBody>
      </p:sp>
      <p:sp>
        <p:nvSpPr>
          <p:cNvPr id="10" name="Text 7"/>
          <p:cNvSpPr/>
          <p:nvPr/>
        </p:nvSpPr>
        <p:spPr>
          <a:xfrm>
            <a:off x="8920246" y="3300432"/>
            <a:ext cx="2440949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Q4</a:t>
            </a:r>
            <a:endParaRPr lang="en-US" sz="1810" dirty="0"/>
          </a:p>
        </p:txBody>
      </p:sp>
      <p:sp>
        <p:nvSpPr>
          <p:cNvPr id="11" name="Text 8"/>
          <p:cNvSpPr/>
          <p:nvPr/>
        </p:nvSpPr>
        <p:spPr>
          <a:xfrm>
            <a:off x="8920246" y="3714846"/>
            <a:ext cx="2440949" cy="127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7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Native zero-trust egress connectors for sovereign European LLMs.</a:t>
            </a:r>
            <a:endParaRPr lang="en-US" sz="1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1790616"/>
            <a:ext cx="10530696" cy="63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70"/>
              </a:lnSpc>
              <a:buNone/>
            </a:pPr>
            <a:r>
              <a:rPr lang="en-US" sz="45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Transparent, usage-based pricing</a:t>
            </a:r>
            <a:endParaRPr lang="en-US" sz="4510" dirty="0"/>
          </a:p>
        </p:txBody>
      </p:sp>
      <p:sp>
        <p:nvSpPr>
          <p:cNvPr id="4" name="Text 1"/>
          <p:cNvSpPr/>
          <p:nvPr/>
        </p:nvSpPr>
        <p:spPr>
          <a:xfrm>
            <a:off x="830500" y="2722640"/>
            <a:ext cx="1558970" cy="58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Tier</a:t>
            </a:r>
            <a:endParaRPr lang="en-US" sz="1810" dirty="0"/>
          </a:p>
        </p:txBody>
      </p:sp>
      <p:sp>
        <p:nvSpPr>
          <p:cNvPr id="5" name="Text 2"/>
          <p:cNvSpPr/>
          <p:nvPr/>
        </p:nvSpPr>
        <p:spPr>
          <a:xfrm>
            <a:off x="2343750" y="2722640"/>
            <a:ext cx="1806408" cy="58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Workspaces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4104438" y="2722640"/>
            <a:ext cx="2445856" cy="58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Monthly Requests</a:t>
            </a:r>
            <a:endParaRPr lang="en-US" sz="1810" dirty="0"/>
          </a:p>
        </p:txBody>
      </p:sp>
      <p:sp>
        <p:nvSpPr>
          <p:cNvPr id="7" name="Text 4"/>
          <p:cNvSpPr/>
          <p:nvPr/>
        </p:nvSpPr>
        <p:spPr>
          <a:xfrm>
            <a:off x="6504574" y="2722640"/>
            <a:ext cx="3128805" cy="58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Retention &amp; Compliance</a:t>
            </a:r>
            <a:endParaRPr lang="en-US" sz="1810" dirty="0"/>
          </a:p>
        </p:txBody>
      </p:sp>
      <p:sp>
        <p:nvSpPr>
          <p:cNvPr id="8" name="Text 5"/>
          <p:cNvSpPr/>
          <p:nvPr/>
        </p:nvSpPr>
        <p:spPr>
          <a:xfrm>
            <a:off x="9587659" y="2722640"/>
            <a:ext cx="1773536" cy="58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Price</a:t>
            </a:r>
            <a:endParaRPr lang="en-US" sz="1810" dirty="0"/>
          </a:p>
        </p:txBody>
      </p:sp>
      <p:sp>
        <p:nvSpPr>
          <p:cNvPr id="9" name="Text 6"/>
          <p:cNvSpPr/>
          <p:nvPr/>
        </p:nvSpPr>
        <p:spPr>
          <a:xfrm>
            <a:off x="830500" y="3303539"/>
            <a:ext cx="1558970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Team</a:t>
            </a:r>
            <a:endParaRPr lang="en-US" sz="1810" dirty="0"/>
          </a:p>
        </p:txBody>
      </p:sp>
      <p:sp>
        <p:nvSpPr>
          <p:cNvPr id="10" name="Text 7"/>
          <p:cNvSpPr/>
          <p:nvPr/>
        </p:nvSpPr>
        <p:spPr>
          <a:xfrm>
            <a:off x="2343750" y="3303539"/>
            <a:ext cx="1806408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1810" dirty="0"/>
          </a:p>
        </p:txBody>
      </p:sp>
      <p:sp>
        <p:nvSpPr>
          <p:cNvPr id="11" name="Text 8"/>
          <p:cNvSpPr/>
          <p:nvPr/>
        </p:nvSpPr>
        <p:spPr>
          <a:xfrm>
            <a:off x="4104438" y="3303539"/>
            <a:ext cx="2445856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Up to 500k reqs</a:t>
            </a:r>
            <a:endParaRPr lang="en-US" sz="1810" dirty="0"/>
          </a:p>
        </p:txBody>
      </p:sp>
      <p:sp>
        <p:nvSpPr>
          <p:cNvPr id="12" name="Text 9"/>
          <p:cNvSpPr/>
          <p:nvPr/>
        </p:nvSpPr>
        <p:spPr>
          <a:xfrm>
            <a:off x="6504574" y="3303539"/>
            <a:ext cx="3128805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90-day signed logs</a:t>
            </a:r>
            <a:endParaRPr lang="en-US" sz="1810" dirty="0"/>
          </a:p>
        </p:txBody>
      </p:sp>
      <p:sp>
        <p:nvSpPr>
          <p:cNvPr id="13" name="Text 10"/>
          <p:cNvSpPr/>
          <p:nvPr/>
        </p:nvSpPr>
        <p:spPr>
          <a:xfrm>
            <a:off x="9587659" y="3303539"/>
            <a:ext cx="1773536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490 € / mo</a:t>
            </a:r>
            <a:endParaRPr lang="en-US" sz="1810" dirty="0"/>
          </a:p>
        </p:txBody>
      </p:sp>
      <p:sp>
        <p:nvSpPr>
          <p:cNvPr id="14" name="Text 11"/>
          <p:cNvSpPr/>
          <p:nvPr/>
        </p:nvSpPr>
        <p:spPr>
          <a:xfrm>
            <a:off x="830500" y="3889672"/>
            <a:ext cx="1558970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Business</a:t>
            </a:r>
            <a:endParaRPr lang="en-US" sz="1810" dirty="0"/>
          </a:p>
        </p:txBody>
      </p:sp>
      <p:sp>
        <p:nvSpPr>
          <p:cNvPr id="15" name="Text 12"/>
          <p:cNvSpPr/>
          <p:nvPr/>
        </p:nvSpPr>
        <p:spPr>
          <a:xfrm>
            <a:off x="2343750" y="3889672"/>
            <a:ext cx="1806408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</a:t>
            </a:r>
            <a:endParaRPr lang="en-US" sz="1810" dirty="0"/>
          </a:p>
        </p:txBody>
      </p:sp>
      <p:sp>
        <p:nvSpPr>
          <p:cNvPr id="16" name="Text 13"/>
          <p:cNvSpPr/>
          <p:nvPr/>
        </p:nvSpPr>
        <p:spPr>
          <a:xfrm>
            <a:off x="4104438" y="3889672"/>
            <a:ext cx="2445856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Up to 5M reqs</a:t>
            </a:r>
            <a:endParaRPr lang="en-US" sz="1810" dirty="0"/>
          </a:p>
        </p:txBody>
      </p:sp>
      <p:sp>
        <p:nvSpPr>
          <p:cNvPr id="17" name="Text 14"/>
          <p:cNvSpPr/>
          <p:nvPr/>
        </p:nvSpPr>
        <p:spPr>
          <a:xfrm>
            <a:off x="6504574" y="3889672"/>
            <a:ext cx="3128805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2-year audit vault</a:t>
            </a:r>
            <a:endParaRPr lang="en-US" sz="1810" dirty="0"/>
          </a:p>
        </p:txBody>
      </p:sp>
      <p:sp>
        <p:nvSpPr>
          <p:cNvPr id="18" name="Text 15"/>
          <p:cNvSpPr/>
          <p:nvPr/>
        </p:nvSpPr>
        <p:spPr>
          <a:xfrm>
            <a:off x="9587659" y="3889672"/>
            <a:ext cx="1773536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1 450 € / mo</a:t>
            </a:r>
            <a:endParaRPr lang="en-US" sz="1810" dirty="0"/>
          </a:p>
        </p:txBody>
      </p:sp>
      <p:sp>
        <p:nvSpPr>
          <p:cNvPr id="19" name="Text 16"/>
          <p:cNvSpPr/>
          <p:nvPr/>
        </p:nvSpPr>
        <p:spPr>
          <a:xfrm>
            <a:off x="830500" y="4475805"/>
            <a:ext cx="1558970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Enterprise</a:t>
            </a:r>
            <a:endParaRPr lang="en-US" sz="1810" dirty="0"/>
          </a:p>
        </p:txBody>
      </p:sp>
      <p:sp>
        <p:nvSpPr>
          <p:cNvPr id="20" name="Text 17"/>
          <p:cNvSpPr/>
          <p:nvPr/>
        </p:nvSpPr>
        <p:spPr>
          <a:xfrm>
            <a:off x="2343750" y="4475805"/>
            <a:ext cx="1806408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Unlimited</a:t>
            </a:r>
            <a:endParaRPr lang="en-US" sz="1810" dirty="0"/>
          </a:p>
        </p:txBody>
      </p:sp>
      <p:sp>
        <p:nvSpPr>
          <p:cNvPr id="21" name="Text 18"/>
          <p:cNvSpPr/>
          <p:nvPr/>
        </p:nvSpPr>
        <p:spPr>
          <a:xfrm>
            <a:off x="4104438" y="4475805"/>
            <a:ext cx="2445856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Custom volume</a:t>
            </a:r>
            <a:endParaRPr lang="en-US" sz="1810" dirty="0"/>
          </a:p>
        </p:txBody>
      </p:sp>
      <p:sp>
        <p:nvSpPr>
          <p:cNvPr id="22" name="Text 19"/>
          <p:cNvSpPr/>
          <p:nvPr/>
        </p:nvSpPr>
        <p:spPr>
          <a:xfrm>
            <a:off x="6504574" y="4475805"/>
            <a:ext cx="3128805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7-year vault + VPC</a:t>
            </a:r>
            <a:endParaRPr lang="en-US" sz="1810" dirty="0"/>
          </a:p>
        </p:txBody>
      </p:sp>
      <p:sp>
        <p:nvSpPr>
          <p:cNvPr id="23" name="Text 20"/>
          <p:cNvSpPr/>
          <p:nvPr/>
        </p:nvSpPr>
        <p:spPr>
          <a:xfrm>
            <a:off x="9587659" y="4475805"/>
            <a:ext cx="1773536" cy="58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Custom</a:t>
            </a:r>
            <a:endParaRPr lang="en-US" sz="18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74395" y="810839"/>
            <a:ext cx="4986801" cy="104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20"/>
              </a:lnSpc>
              <a:buNone/>
            </a:pPr>
            <a:r>
              <a:rPr lang="en-US" sz="375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Built by infrastructure engineers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374395" y="2159239"/>
            <a:ext cx="4986801" cy="143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0"/>
              </a:lnSpc>
              <a:buNone/>
            </a:pPr>
            <a:r>
              <a:rPr lang="en-US" sz="1500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Founded by former payment security and distributed systems leads from More Inc and Bank of Tor. We built Acme after managing compliance across 400+ LLM services internally. Today, Acme governs production traffic across 18 European tech companies.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374395" y="3894088"/>
            <a:ext cx="1477853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400+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6374395" y="4319950"/>
            <a:ext cx="1477853" cy="1381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LLM services governed internally before Acme</a:t>
            </a:r>
            <a:endParaRPr lang="en-US" sz="1810" dirty="0"/>
          </a:p>
        </p:txBody>
      </p:sp>
      <p:sp>
        <p:nvSpPr>
          <p:cNvPr id="7" name="Text 4"/>
          <p:cNvSpPr/>
          <p:nvPr/>
        </p:nvSpPr>
        <p:spPr>
          <a:xfrm>
            <a:off x="8128868" y="3894088"/>
            <a:ext cx="1477853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</a:t>
            </a:r>
            <a:endParaRPr lang="en-US" sz="1810" dirty="0"/>
          </a:p>
        </p:txBody>
      </p:sp>
      <p:sp>
        <p:nvSpPr>
          <p:cNvPr id="8" name="Text 5"/>
          <p:cNvSpPr/>
          <p:nvPr/>
        </p:nvSpPr>
        <p:spPr>
          <a:xfrm>
            <a:off x="8128868" y="4319950"/>
            <a:ext cx="1477853" cy="172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European tech companies in production today</a:t>
            </a:r>
            <a:endParaRPr lang="en-US" sz="1810" dirty="0"/>
          </a:p>
        </p:txBody>
      </p:sp>
      <p:sp>
        <p:nvSpPr>
          <p:cNvPr id="9" name="Text 6"/>
          <p:cNvSpPr/>
          <p:nvPr/>
        </p:nvSpPr>
        <p:spPr>
          <a:xfrm>
            <a:off x="9883342" y="3894088"/>
            <a:ext cx="1477853" cy="34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b="1" dirty="0">
                <a:solidFill>
                  <a:srgbClr val="11131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EU</a:t>
            </a:r>
            <a:endParaRPr lang="en-US" sz="1810" dirty="0"/>
          </a:p>
        </p:txBody>
      </p:sp>
      <p:sp>
        <p:nvSpPr>
          <p:cNvPr id="10" name="Text 7"/>
          <p:cNvSpPr/>
          <p:nvPr/>
        </p:nvSpPr>
        <p:spPr>
          <a:xfrm>
            <a:off x="9883342" y="4319950"/>
            <a:ext cx="1477853" cy="103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810" dirty="0">
                <a:solidFill>
                  <a:srgbClr val="5B627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residency and egress by default</a:t>
            </a:r>
            <a:endParaRPr lang="en-US" sz="18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500" y="2310679"/>
            <a:ext cx="10530696" cy="164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70"/>
              </a:lnSpc>
              <a:buNone/>
            </a:pPr>
            <a:r>
              <a:rPr lang="en-US" sz="616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Start enforcing AI in production today</a:t>
            </a:r>
            <a:endParaRPr lang="en-US" sz="6160" dirty="0"/>
          </a:p>
        </p:txBody>
      </p:sp>
      <p:sp>
        <p:nvSpPr>
          <p:cNvPr id="4" name="Text 1"/>
          <p:cNvSpPr/>
          <p:nvPr/>
        </p:nvSpPr>
        <p:spPr>
          <a:xfrm>
            <a:off x="830500" y="4260257"/>
            <a:ext cx="10530696" cy="2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6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Get in touch for a 30-minute architecture review or deploy a self-hosted trial.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2026-09-06T18:16:43Z</dcterms:created>
  <dcterms:modified xsi:type="dcterms:W3CDTF">2026-09-06T18:16:43Z</dcterms:modified>
</cp:coreProperties>
</file>