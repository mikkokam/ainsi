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7959"/>
  <p:notesSz cx="6857959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3478125"/>
            <a:ext cx="10530958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governance with Saidot</a:t>
            </a:r>
            <a:endParaRPr lang="en-US" sz="5320" dirty="0"/>
          </a:p>
        </p:txBody>
      </p:sp>
      <p:sp>
        <p:nvSpPr>
          <p:cNvPr id="4" name="Text 1"/>
          <p:cNvSpPr/>
          <p:nvPr/>
        </p:nvSpPr>
        <p:spPr>
          <a:xfrm>
            <a:off x="830521" y="4231580"/>
            <a:ext cx="10530958" cy="48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60"/>
              </a:lnSpc>
              <a:buNone/>
            </a:pPr>
            <a:r>
              <a:rPr lang="en-US" sz="345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 today, and the road to enforcement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830521" y="4811022"/>
            <a:ext cx="10530958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Strawman for discussion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830521" y="5218578"/>
            <a:ext cx="10530958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September 2026</a:t>
            </a:r>
            <a:endParaRPr lang="en-US" sz="1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460626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we will cover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566522"/>
            <a:ext cx="426127" cy="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0"/>
              </a:lnSpc>
              <a:buNone/>
            </a:pPr>
            <a:r>
              <a:rPr lang="en-US" sz="251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</a:t>
            </a:r>
            <a:endParaRPr lang="en-US" sz="2510" dirty="0"/>
          </a:p>
        </p:txBody>
      </p:sp>
      <p:sp>
        <p:nvSpPr>
          <p:cNvPr id="5" name="Text 2"/>
          <p:cNvSpPr/>
          <p:nvPr/>
        </p:nvSpPr>
        <p:spPr>
          <a:xfrm>
            <a:off x="1449541" y="2629323"/>
            <a:ext cx="1238785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Saidot today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2761832" y="2629323"/>
            <a:ext cx="405814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graph, one library, one system of record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830521" y="3156594"/>
            <a:ext cx="468976" cy="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0"/>
              </a:lnSpc>
              <a:buNone/>
            </a:pPr>
            <a:r>
              <a:rPr lang="en-US" sz="251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</a:t>
            </a:r>
            <a:endParaRPr lang="en-US" sz="2510" dirty="0"/>
          </a:p>
        </p:txBody>
      </p:sp>
      <p:sp>
        <p:nvSpPr>
          <p:cNvPr id="8" name="Text 5"/>
          <p:cNvSpPr/>
          <p:nvPr/>
        </p:nvSpPr>
        <p:spPr>
          <a:xfrm>
            <a:off x="1492390" y="3219396"/>
            <a:ext cx="1166498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Agentic use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2732393" y="3219396"/>
            <a:ext cx="2705790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API and the MCP servers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30521" y="3746667"/>
            <a:ext cx="478462" cy="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0"/>
              </a:lnSpc>
              <a:buNone/>
            </a:pPr>
            <a:r>
              <a:rPr lang="en-US" sz="251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</a:t>
            </a:r>
            <a:endParaRPr lang="en-US" sz="2510" dirty="0"/>
          </a:p>
        </p:txBody>
      </p:sp>
      <p:sp>
        <p:nvSpPr>
          <p:cNvPr id="11" name="Text 8"/>
          <p:cNvSpPr/>
          <p:nvPr/>
        </p:nvSpPr>
        <p:spPr>
          <a:xfrm>
            <a:off x="1501876" y="3809468"/>
            <a:ext cx="110533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camps</a:t>
            </a:r>
            <a:endParaRPr lang="en-US" sz="1570" dirty="0"/>
          </a:p>
        </p:txBody>
      </p:sp>
      <p:sp>
        <p:nvSpPr>
          <p:cNvPr id="12" name="Text 9"/>
          <p:cNvSpPr/>
          <p:nvPr/>
        </p:nvSpPr>
        <p:spPr>
          <a:xfrm>
            <a:off x="2680713" y="3809468"/>
            <a:ext cx="4557944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semantics on one side, enforcement on the other</a:t>
            </a:r>
            <a:endParaRPr lang="en-US" sz="1570" dirty="0"/>
          </a:p>
        </p:txBody>
      </p:sp>
      <p:sp>
        <p:nvSpPr>
          <p:cNvPr id="13" name="Text 10"/>
          <p:cNvSpPr/>
          <p:nvPr/>
        </p:nvSpPr>
        <p:spPr>
          <a:xfrm>
            <a:off x="830521" y="4336740"/>
            <a:ext cx="483859" cy="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0"/>
              </a:lnSpc>
              <a:buNone/>
            </a:pPr>
            <a:r>
              <a:rPr lang="en-US" sz="251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</a:t>
            </a:r>
            <a:endParaRPr lang="en-US" sz="2510" dirty="0"/>
          </a:p>
        </p:txBody>
      </p:sp>
      <p:sp>
        <p:nvSpPr>
          <p:cNvPr id="14" name="Text 11"/>
          <p:cNvSpPr/>
          <p:nvPr/>
        </p:nvSpPr>
        <p:spPr>
          <a:xfrm>
            <a:off x="1507273" y="4399541"/>
            <a:ext cx="154739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layer model</a:t>
            </a:r>
            <a:endParaRPr lang="en-US" sz="1570" dirty="0"/>
          </a:p>
        </p:txBody>
      </p:sp>
      <p:sp>
        <p:nvSpPr>
          <p:cNvPr id="15" name="Text 12"/>
          <p:cNvSpPr/>
          <p:nvPr/>
        </p:nvSpPr>
        <p:spPr>
          <a:xfrm>
            <a:off x="3128174" y="4399541"/>
            <a:ext cx="4479115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governance, policy as code, runtime, compliance</a:t>
            </a:r>
            <a:endParaRPr lang="en-US" sz="1570" dirty="0"/>
          </a:p>
        </p:txBody>
      </p:sp>
      <p:sp>
        <p:nvSpPr>
          <p:cNvPr id="16" name="Text 13"/>
          <p:cNvSpPr/>
          <p:nvPr/>
        </p:nvSpPr>
        <p:spPr>
          <a:xfrm>
            <a:off x="830521" y="4926812"/>
            <a:ext cx="481733" cy="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10"/>
              </a:lnSpc>
              <a:buNone/>
            </a:pPr>
            <a:r>
              <a:rPr lang="en-US" sz="251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05</a:t>
            </a:r>
            <a:endParaRPr lang="en-US" sz="2510" dirty="0"/>
          </a:p>
        </p:txBody>
      </p:sp>
      <p:sp>
        <p:nvSpPr>
          <p:cNvPr id="17" name="Text 14"/>
          <p:cNvSpPr/>
          <p:nvPr/>
        </p:nvSpPr>
        <p:spPr>
          <a:xfrm>
            <a:off x="1505147" y="4989614"/>
            <a:ext cx="944240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Roadmap</a:t>
            </a:r>
            <a:endParaRPr lang="en-US" sz="1570" dirty="0"/>
          </a:p>
        </p:txBody>
      </p:sp>
      <p:sp>
        <p:nvSpPr>
          <p:cNvPr id="18" name="Text 15"/>
          <p:cNvSpPr/>
          <p:nvPr/>
        </p:nvSpPr>
        <p:spPr>
          <a:xfrm>
            <a:off x="2522891" y="4989614"/>
            <a:ext cx="3941704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ships, what is proposed, what is open</a:t>
            </a:r>
            <a:endParaRPr lang="en-US" sz="15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899501"/>
            <a:ext cx="8254239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Saidot today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830521" y="3645105"/>
            <a:ext cx="7515340" cy="31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 AI systems, models and agents in one connected graph.</a:t>
            </a:r>
            <a:endParaRPr lang="en-US" sz="1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904571"/>
            <a:ext cx="10530958" cy="22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20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521" y="1433805"/>
            <a:ext cx="10530958" cy="10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59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cannot keep pace with AI in production</a:t>
            </a:r>
            <a:endParaRPr lang="en-US" sz="3590" dirty="0"/>
          </a:p>
        </p:txBody>
      </p:sp>
      <p:sp>
        <p:nvSpPr>
          <p:cNvPr id="5" name="Text 2"/>
          <p:cNvSpPr/>
          <p:nvPr/>
        </p:nvSpPr>
        <p:spPr>
          <a:xfrm>
            <a:off x="1060466" y="3321939"/>
            <a:ext cx="2330125" cy="82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single view of AI systems, models and agents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1060466" y="4209174"/>
            <a:ext cx="2330125" cy="1514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0"/>
              </a:lnSpc>
              <a:buNone/>
            </a:pPr>
            <a:r>
              <a:rPr lang="en-US" sz="133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Models, agents, datasets and suppliers are tracked separately. Nobody can say which models power which products, or what breaks when one is swapped.</a:t>
            </a:r>
            <a:endParaRPr lang="en-US" sz="1330" dirty="0"/>
          </a:p>
        </p:txBody>
      </p:sp>
      <p:sp>
        <p:nvSpPr>
          <p:cNvPr id="7" name="Text 4"/>
          <p:cNvSpPr/>
          <p:nvPr/>
        </p:nvSpPr>
        <p:spPr>
          <a:xfrm>
            <a:off x="4106177" y="3321939"/>
            <a:ext cx="2330125" cy="548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framework governed separately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4106177" y="3934744"/>
            <a:ext cx="2330125" cy="1514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0"/>
              </a:lnSpc>
              <a:buNone/>
            </a:pPr>
            <a:r>
              <a:rPr lang="en-US" sz="133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EU AI Act, ISO 42001, NIST AI RMF and internal policy are each mapped by hand, then evidenced again. Every new jurisdiction restarts the work.</a:t>
            </a:r>
            <a:endParaRPr lang="en-US" sz="1330" dirty="0"/>
          </a:p>
        </p:txBody>
      </p:sp>
      <p:sp>
        <p:nvSpPr>
          <p:cNvPr id="9" name="Text 6"/>
          <p:cNvSpPr/>
          <p:nvPr/>
        </p:nvSpPr>
        <p:spPr>
          <a:xfrm>
            <a:off x="7151887" y="3321939"/>
            <a:ext cx="2330125" cy="548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has become the bottleneck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7151887" y="3934744"/>
            <a:ext cx="2330125" cy="100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0"/>
              </a:lnSpc>
              <a:buNone/>
            </a:pPr>
            <a:r>
              <a:rPr lang="en-US" sz="133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mandate to move faster collides with manual review. Data scientists meet governance as a brake.</a:t>
            </a:r>
            <a:endParaRPr lang="en-US" sz="13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998364"/>
            <a:ext cx="4986924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graph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662196"/>
            <a:ext cx="4986924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Saidot graph connects products, systems, models, agents, tools, datasets, risks, policies, controls, evidence and incidents.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666366"/>
            <a:ext cx="4986924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 once, inherit everywhere. A control set on a model reaches every system that uses it, and a risk exposed by a dataset reaches every agent reading from it.</a:t>
            </a:r>
            <a:endParaRPr lang="en-US" sz="15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122332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library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3118979"/>
            <a:ext cx="2458182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260+</a:t>
            </a:r>
            <a:endParaRPr lang="en-US" sz="5320" dirty="0"/>
          </a:p>
        </p:txBody>
      </p:sp>
      <p:sp>
        <p:nvSpPr>
          <p:cNvPr id="5" name="Text 2"/>
          <p:cNvSpPr/>
          <p:nvPr/>
        </p:nvSpPr>
        <p:spPr>
          <a:xfrm>
            <a:off x="830521" y="3888297"/>
            <a:ext cx="245818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risks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3521337" y="3118979"/>
            <a:ext cx="2458345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620+</a:t>
            </a:r>
            <a:endParaRPr lang="en-US" sz="5320" dirty="0"/>
          </a:p>
        </p:txBody>
      </p:sp>
      <p:sp>
        <p:nvSpPr>
          <p:cNvPr id="7" name="Text 4"/>
          <p:cNvSpPr/>
          <p:nvPr/>
        </p:nvSpPr>
        <p:spPr>
          <a:xfrm>
            <a:off x="3521337" y="3888297"/>
            <a:ext cx="2458345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controls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6212317" y="3118979"/>
            <a:ext cx="2458182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110+</a:t>
            </a:r>
            <a:endParaRPr lang="en-US" sz="5320" dirty="0"/>
          </a:p>
        </p:txBody>
      </p:sp>
      <p:sp>
        <p:nvSpPr>
          <p:cNvPr id="9" name="Text 6"/>
          <p:cNvSpPr/>
          <p:nvPr/>
        </p:nvSpPr>
        <p:spPr>
          <a:xfrm>
            <a:off x="6212317" y="3888297"/>
            <a:ext cx="245818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policies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903134" y="3118979"/>
            <a:ext cx="2458345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170+</a:t>
            </a:r>
            <a:endParaRPr lang="en-US" sz="5320" dirty="0"/>
          </a:p>
        </p:txBody>
      </p:sp>
      <p:sp>
        <p:nvSpPr>
          <p:cNvPr id="11" name="Text 8"/>
          <p:cNvSpPr/>
          <p:nvPr/>
        </p:nvSpPr>
        <p:spPr>
          <a:xfrm>
            <a:off x="8903134" y="3888297"/>
            <a:ext cx="2458345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third-party AI models</a:t>
            </a:r>
            <a:endParaRPr lang="en-US" sz="1570" dirty="0"/>
          </a:p>
        </p:txBody>
      </p:sp>
      <p:sp>
        <p:nvSpPr>
          <p:cNvPr id="12" name="Text 9"/>
          <p:cNvSpPr/>
          <p:nvPr/>
        </p:nvSpPr>
        <p:spPr>
          <a:xfrm>
            <a:off x="830521" y="4488019"/>
            <a:ext cx="10530958" cy="24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Curated and versioned by Saidot. Nobody starts AI governance from a blank page.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737509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sets Saidot apart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962793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Graph-native governance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330607"/>
            <a:ext cx="3355229" cy="178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Built on a graph, not on questionnaires. Scales to thousands of systems and inventories past fifty thousand entries, where form-based tools collapse under volume.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4418385" y="2962793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Expertise productised in the library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418385" y="3330607"/>
            <a:ext cx="3355229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Software bundled with regulatory knowledge, delivered as a continuously updated service.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006249" y="2962793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Integrated into AI infrastructure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006249" y="3330607"/>
            <a:ext cx="3355229" cy="178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MCP servers and APIs connect runtimes to governance: set controls, collect evidence, orchestrate approvals. The system of record for AI governance, inside the AI infrastructure.</a:t>
            </a:r>
            <a:endParaRPr lang="en-US" sz="1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742987"/>
            <a:ext cx="8254239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Agentic use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830521" y="3488592"/>
            <a:ext cx="7515340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95% of the platform is operable through the API.</a:t>
            </a:r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The MCP servers put it in front of an agent.</a:t>
            </a:r>
            <a:endParaRPr lang="en-US" sz="1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402894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MCP servers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79601" y="2669555"/>
            <a:ext cx="253063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MCP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1079601" y="3037370"/>
            <a:ext cx="2530632" cy="137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inventory and catalogue management: create, read and update systems, models, agents, datasets, risks and controls.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4364088" y="2669555"/>
            <a:ext cx="253063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Library MCP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364088" y="3037370"/>
            <a:ext cx="2530632" cy="109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Read access to the curated library: policies, risks, models, products, evaluations and controls.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7648575" y="2669555"/>
            <a:ext cx="253063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Docs MCP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7648575" y="3037370"/>
            <a:ext cx="2530632" cy="548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documentation and methodology guidance.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830521" y="4960012"/>
            <a:ext cx="10530958" cy="4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Cloud hosted over HTTP for Claude Desktop, VS Code, Cursor and other MCP clients. Docker over stdio for local or on-premise use, alongside the IDE.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836945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an agent does today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3290865"/>
            <a:ext cx="190163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Register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648703"/>
            <a:ext cx="1901636" cy="137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 agent registers a system, its models and its datasets from the deployment it sees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2987852" y="3290865"/>
            <a:ext cx="190163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Classify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2987852" y="3648703"/>
            <a:ext cx="1901636" cy="109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rules propose a tier from the properties on record; a person ratifies it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5145182" y="3290865"/>
            <a:ext cx="190163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Inherit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5145182" y="3648703"/>
            <a:ext cx="1901636" cy="82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tier resolves its control set through the graph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7302513" y="3290865"/>
            <a:ext cx="190163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Evidence</a:t>
            </a:r>
            <a:endParaRPr lang="en-US" sz="1570" dirty="0"/>
          </a:p>
        </p:txBody>
      </p:sp>
      <p:sp>
        <p:nvSpPr>
          <p:cNvPr id="11" name="Text 8"/>
          <p:cNvSpPr/>
          <p:nvPr/>
        </p:nvSpPr>
        <p:spPr>
          <a:xfrm>
            <a:off x="7302513" y="3648703"/>
            <a:ext cx="1901636" cy="109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agent attaches evidence and opens the approvals the lifecycle asks for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9459843" y="3290865"/>
            <a:ext cx="190163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Report</a:t>
            </a:r>
            <a:endParaRPr lang="en-US" sz="1570" dirty="0"/>
          </a:p>
        </p:txBody>
      </p:sp>
      <p:sp>
        <p:nvSpPr>
          <p:cNvPr id="13" name="Text 10"/>
          <p:cNvSpPr/>
          <p:nvPr/>
        </p:nvSpPr>
        <p:spPr>
          <a:xfrm>
            <a:off x="9459843" y="3648703"/>
            <a:ext cx="1901636" cy="109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state of every control is queryable, by a person or by the next agent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555" y="1548287"/>
            <a:ext cx="4986924" cy="1633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flows down, runtime signals flow back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374555" y="3301332"/>
            <a:ext cx="4986924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Runtime enforcement tools police individual agent actions in the moment.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6374555" y="4007195"/>
            <a:ext cx="4986924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Saidot is the governance layer above: the graph that defines the policies, risks and controls worth enforcing, and the evidence proving them.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6374555" y="5011365"/>
            <a:ext cx="4986924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 enable enforcement. We do not sit in the hot path.</a:t>
            </a:r>
            <a:endParaRPr lang="en-US" sz="1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899501"/>
            <a:ext cx="8254239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47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camps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830521" y="3645105"/>
            <a:ext cx="7515340" cy="31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communities solve the same problem and barely read each other.</a:t>
            </a:r>
            <a:endParaRPr lang="en-US" sz="1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844713"/>
            <a:ext cx="10530958" cy="108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Semantics on one side, enforcement on the other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385967"/>
            <a:ext cx="5137550" cy="571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7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Semantic Web</a:t>
            </a:r>
            <a:endParaRPr lang="en-US" sz="2710" dirty="0"/>
          </a:p>
        </p:txBody>
      </p:sp>
      <p:sp>
        <p:nvSpPr>
          <p:cNvPr id="5" name="Text 2"/>
          <p:cNvSpPr/>
          <p:nvPr/>
        </p:nvSpPr>
        <p:spPr>
          <a:xfrm>
            <a:off x="830521" y="3094774"/>
            <a:ext cx="5137550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Stack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830521" y="3347125"/>
            <a:ext cx="5137550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RDF, SPARQL, ontologies: DPV, VAIR, AIRO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830521" y="3784610"/>
            <a:ext cx="5137550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Good at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830521" y="4036960"/>
            <a:ext cx="5137550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Describing risks and rights machine-readably, linking messy vocabularies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30521" y="4772752"/>
            <a:ext cx="5137550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Missing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30521" y="5025103"/>
            <a:ext cx="5137550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Execution. Nothing evaluates against a running system</a:t>
            </a:r>
            <a:endParaRPr lang="en-US" sz="1570" dirty="0"/>
          </a:p>
        </p:txBody>
      </p:sp>
      <p:sp>
        <p:nvSpPr>
          <p:cNvPr id="11" name="Text 8"/>
          <p:cNvSpPr/>
          <p:nvPr/>
        </p:nvSpPr>
        <p:spPr>
          <a:xfrm>
            <a:off x="830521" y="5462588"/>
            <a:ext cx="5137550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Who runs it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30521" y="5714939"/>
            <a:ext cx="5137550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Research groups, standards bodies</a:t>
            </a:r>
            <a:endParaRPr lang="en-US" sz="1570" dirty="0"/>
          </a:p>
        </p:txBody>
      </p:sp>
      <p:sp>
        <p:nvSpPr>
          <p:cNvPr id="13" name="Text 10"/>
          <p:cNvSpPr/>
          <p:nvPr/>
        </p:nvSpPr>
        <p:spPr>
          <a:xfrm>
            <a:off x="6223766" y="2385967"/>
            <a:ext cx="5137713" cy="571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7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Policy as code</a:t>
            </a:r>
            <a:endParaRPr lang="en-US" sz="2710" dirty="0"/>
          </a:p>
        </p:txBody>
      </p:sp>
      <p:sp>
        <p:nvSpPr>
          <p:cNvPr id="14" name="Text 11"/>
          <p:cNvSpPr/>
          <p:nvPr/>
        </p:nvSpPr>
        <p:spPr>
          <a:xfrm>
            <a:off x="6223766" y="3094774"/>
            <a:ext cx="5137713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Stack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6223766" y="3347125"/>
            <a:ext cx="5137713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OPA and Rego, OSCAL, CI/CD gates</a:t>
            </a:r>
            <a:endParaRPr lang="en-US" sz="1570" dirty="0"/>
          </a:p>
        </p:txBody>
      </p:sp>
      <p:sp>
        <p:nvSpPr>
          <p:cNvPr id="16" name="Text 13"/>
          <p:cNvSpPr/>
          <p:nvPr/>
        </p:nvSpPr>
        <p:spPr>
          <a:xfrm>
            <a:off x="6223766" y="3784610"/>
            <a:ext cx="5137713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Good at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6223766" y="4036960"/>
            <a:ext cx="5137713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Enforcing and evaluating against a live system</a:t>
            </a:r>
            <a:endParaRPr lang="en-US" sz="1570" dirty="0"/>
          </a:p>
        </p:txBody>
      </p:sp>
      <p:sp>
        <p:nvSpPr>
          <p:cNvPr id="18" name="Text 15"/>
          <p:cNvSpPr/>
          <p:nvPr/>
        </p:nvSpPr>
        <p:spPr>
          <a:xfrm>
            <a:off x="6223766" y="4474445"/>
            <a:ext cx="5137713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Missing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223766" y="4726796"/>
            <a:ext cx="5137713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Regulatory semantics</a:t>
            </a:r>
            <a:endParaRPr lang="en-US" sz="1570" dirty="0"/>
          </a:p>
        </p:txBody>
      </p:sp>
      <p:sp>
        <p:nvSpPr>
          <p:cNvPr id="20" name="Text 17"/>
          <p:cNvSpPr/>
          <p:nvPr/>
        </p:nvSpPr>
        <p:spPr>
          <a:xfrm>
            <a:off x="6223766" y="5164281"/>
            <a:ext cx="5137713" cy="23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22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Who runs it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223766" y="5416631"/>
            <a:ext cx="5137713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Security teams, already in production</a:t>
            </a:r>
            <a:endParaRPr lang="en-US" sz="15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453594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same premise on both sides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450241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Prose does not scale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2818055"/>
            <a:ext cx="3355229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Obligations need a structured intermediate form that machines process and people review, on standard vocabularies.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4418385" y="2450241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Provenance is evidence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418385" y="2818055"/>
            <a:ext cx="3355229" cy="178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Their graph traces a risk to an incident. Our record traces a control decision to the obligation, the property values checked and the rule version. An assertion without a trail is not evidence.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006249" y="2450241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Their output is our input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006249" y="2818055"/>
            <a:ext cx="3355229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completed assessment is, to us, an event: who, when, attached evidence, expiry. What happens inside it is their domain.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30521" y="4909313"/>
            <a:ext cx="10530958" cy="4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risk described in VAIR does not block a deployment or create an audit artefact. The missing piece is the runtime, and that is the bridge to build.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141385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points of conflict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138032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classification is a coin toss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2505846"/>
            <a:ext cx="5149162" cy="208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Their evaluation found LLM classification of the employment domain matched human experts about as often as chance, across two models. The AI Act risk tier must be a human-ratified property with provenance and expiry. Rules may suggest a tier. A person confirms it, because that one property scopes every downstream obligation.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6212317" y="2138032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ontologies exist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6212317" y="2505846"/>
            <a:ext cx="5149162" cy="149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DPV, VAIR and AIRO are published, versioned, and have carried AI Act semantics for years. The accurate claim is narrower: they are not integrated into any working compliance pipeline. That is a better pitch, because it is true.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1385431" y="5054378"/>
            <a:ext cx="5901308" cy="4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This limits what can honestly be promised on automation. The customers-and-law side of that trade is the question for this room.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899501"/>
            <a:ext cx="8254239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layer model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830521" y="3645105"/>
            <a:ext cx="7515340" cy="31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and compliance are separate layers, and a loop joins them.</a:t>
            </a:r>
            <a:endParaRPr lang="en-US" sz="16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389893"/>
            <a:ext cx="4986924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Four layers, one loop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1495788"/>
            <a:ext cx="118187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1794096"/>
            <a:ext cx="4986924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human side: strategy, risk appetite, custom policies, tiering, scoping, thresholds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830521" y="2619674"/>
            <a:ext cx="1376491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Policy as code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830521" y="2917981"/>
            <a:ext cx="4986924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obligations mapped to properties and thresholds, compiled into an assessment policy and an enforcement policy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30521" y="4041867"/>
            <a:ext cx="850855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Runtime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30521" y="4340174"/>
            <a:ext cx="4986924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enforces inline, reports state, discovers what is actually deployed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30521" y="5165752"/>
            <a:ext cx="1164863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Compliance</a:t>
            </a:r>
            <a:endParaRPr lang="en-US" sz="1570" dirty="0"/>
          </a:p>
        </p:txBody>
      </p:sp>
      <p:sp>
        <p:nvSpPr>
          <p:cNvPr id="11" name="Text 8"/>
          <p:cNvSpPr/>
          <p:nvPr/>
        </p:nvSpPr>
        <p:spPr>
          <a:xfrm>
            <a:off x="830521" y="5464060"/>
            <a:ext cx="4986924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evaluates to pass, fail or unknown, emits evidence and remediation items, and loops back to governance to change the system or change the rule</a:t>
            </a:r>
            <a:endParaRPr lang="en-US" sz="15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759097"/>
            <a:ext cx="10530958" cy="43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30"/>
              </a:lnSpc>
              <a:buNone/>
            </a:pPr>
            <a:r>
              <a:rPr lang="en-US" sz="312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property is a fact with a subject, a source and a trust level</a:t>
            </a:r>
            <a:endParaRPr lang="en-US" sz="3120" dirty="0"/>
          </a:p>
        </p:txBody>
      </p:sp>
      <p:sp>
        <p:nvSpPr>
          <p:cNvPr id="4" name="Text 1"/>
          <p:cNvSpPr/>
          <p:nvPr/>
        </p:nvSpPr>
        <p:spPr>
          <a:xfrm>
            <a:off x="1031846" y="3028211"/>
            <a:ext cx="2029529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5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System of record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31846" y="3322430"/>
            <a:ext cx="2029529" cy="87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Read directly from production configuration, HR, the learning system. Highest trust.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719718" y="3028211"/>
            <a:ext cx="2029529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5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719718" y="3322430"/>
            <a:ext cx="2029529" cy="65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Pushed by a connected system. Trusted as far as the connector is.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7591" y="3028211"/>
            <a:ext cx="2029529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5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Human declaration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7591" y="3322430"/>
            <a:ext cx="2029529" cy="438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Stated by a person, with evidence and an expiry date.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095463" y="3028211"/>
            <a:ext cx="2029529" cy="23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5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Unknown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095463" y="3322430"/>
            <a:ext cx="2029529" cy="438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Nothing answered. Recorded as a gap, never as a default.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0521" y="4703082"/>
            <a:ext cx="10530958" cy="39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Process obligations are not a separate class. "Staff trained" has a learning system behind it, "DPIA done" may be a declaration. The split is whether a system of record exists, which turns the gap list into a connector roadmap. Claims are events with expiry, never booleans: a boolean that cannot go stale cannot be audited.</a:t>
            </a:r>
            <a:endParaRPr lang="en-US" sz="10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150134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10" dirty="0">
                <a:solidFill>
                  <a:srgbClr val="CF222E"/>
                </a:solidFill>
                <a:highlight>
                  <a:srgbClr val="FFFFFF"/>
                </a:highlight>
                <a:latin typeface="SF Mono" pitchFamily="34" charset="0"/>
                <a:ea typeface="SF Mono" pitchFamily="34" charset="-122"/>
                <a:cs typeface="SF Mono" pitchFamily="34" charset="-120"/>
              </a:rPr>
              <a:t>OSCAL</a:t>
            </a:r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as the neutral format</a:t>
            </a:r>
            <a:endParaRPr lang="en-US" sz="3310" dirty="0"/>
          </a:p>
        </p:txBody>
      </p:sp>
      <p:sp>
        <p:nvSpPr>
          <p:cNvPr id="4" name="Text 1"/>
          <p:cNvSpPr/>
          <p:nvPr/>
        </p:nvSpPr>
        <p:spPr>
          <a:xfrm>
            <a:off x="830521" y="3146782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catalogue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514596"/>
            <a:ext cx="3355229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AI, information security and privacy controls merged in one library, so the same evidence is never collected twice.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4418385" y="3146782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Crosses boundaries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418385" y="3514596"/>
            <a:ext cx="3355229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Import and export in a format auditors and other tools already read, not a document export bolted on at the end.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006249" y="3146782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Neutral language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006249" y="3514596"/>
            <a:ext cx="3355229" cy="119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Controls stated once, in neutral terms, with a mapper translating them into what a given runtime can check and emitting Rego for it.</a:t>
            </a:r>
            <a:endParaRPr lang="en-US" sz="15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614359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Applicability and enforcement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611006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Scoping rules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2978820"/>
            <a:ext cx="3355229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Does this control family apply to this system at all?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4418385" y="2611006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Tailoring rules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418385" y="2978820"/>
            <a:ext cx="3355229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Does this specific control apply, given the system's own properties?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006249" y="2611006"/>
            <a:ext cx="3355229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Coverage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006249" y="2978820"/>
            <a:ext cx="3355229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Rules plus a coverage list, and the statement of applicability generates itself per system.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1385431" y="4334123"/>
            <a:ext cx="5901308" cy="74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runtime that cannot check a control returns unknown and routes the question to the learning system or to a person. If nothing answers, it stays a gap, and the gap says: find out.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885027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is actually new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3110311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Applicability per system instance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478125"/>
            <a:ext cx="5149162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0101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Computed from the instance's own properties. Cross-framework mapping at the organisation level already exists at Vanta and Drata. Per system, it does not.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6212317" y="3110311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Capability negotiation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6212317" y="3478125"/>
            <a:ext cx="5149162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0101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runtime explicitly replies that it cannot evaluate a check. The unknown persists as a gap until something else answers, instead of a silent pass or fail.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30521" y="4674461"/>
            <a:ext cx="10530958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Saidot already holds the systems and the workflows that assign controls. That is why these two lead.</a:t>
            </a:r>
            <a:endParaRPr lang="en-US" sz="15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899501"/>
            <a:ext cx="8254239" cy="62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Roadmap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830521" y="3645105"/>
            <a:ext cx="7515340" cy="31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64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Shipped, in development, proposed.</a:t>
            </a:r>
            <a:endParaRPr lang="en-US" sz="16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252269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From governance to enforcement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79601" y="2518930"/>
            <a:ext cx="284169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Shipped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1079601" y="2886744"/>
            <a:ext cx="2841696" cy="109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Governance, Library and Docs MCP servers. REST API over most of the platform. Observability API.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4675152" y="2518930"/>
            <a:ext cx="284169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 development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675152" y="2886744"/>
            <a:ext cx="2841696" cy="192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Orchestrator MCP. Workflow automation: classification, approvals, reassessment triggers, evidence capture. Customisation of lifecycles, roles, thresholds and templates per organisation.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8270703" y="2518930"/>
            <a:ext cx="2841696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Proposed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8270703" y="2886744"/>
            <a:ext cx="2841696" cy="192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Properties with source and trust level. OSCAL import and export. Applicability rules per system. Policy compiled per runtime, with capability negotiation and unknown as a first-class outcome.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830521" y="5358246"/>
            <a:ext cx="10530958" cy="24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proposed column is this strawman, not a commitment.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1871453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Still open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2868100"/>
            <a:ext cx="3355229" cy="26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20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Rule precedence</a:t>
            </a:r>
            <a:endParaRPr lang="en-US" sz="2020" dirty="0"/>
          </a:p>
        </p:txBody>
      </p:sp>
      <p:sp>
        <p:nvSpPr>
          <p:cNvPr id="5" name="Text 2"/>
          <p:cNvSpPr/>
          <p:nvPr/>
        </p:nvSpPr>
        <p:spPr>
          <a:xfrm>
            <a:off x="830521" y="3196663"/>
            <a:ext cx="3355229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rules conflict on one control. XACML's combining algorithms are the candidate, not yet chosen.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4418385" y="2868100"/>
            <a:ext cx="3355229" cy="26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20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Coverage decomposition</a:t>
            </a:r>
            <a:endParaRPr lang="en-US" sz="2020" dirty="0"/>
          </a:p>
        </p:txBody>
      </p:sp>
      <p:sp>
        <p:nvSpPr>
          <p:cNvPr id="7" name="Text 4"/>
          <p:cNvSpPr/>
          <p:nvPr/>
        </p:nvSpPr>
        <p:spPr>
          <a:xfrm>
            <a:off x="4418385" y="3196663"/>
            <a:ext cx="3355229" cy="894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a unified control decomposes into what each runtime can attest to.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006249" y="2868100"/>
            <a:ext cx="3355229" cy="26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202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Point in time</a:t>
            </a:r>
            <a:endParaRPr lang="en-US" sz="2020" dirty="0"/>
          </a:p>
        </p:txBody>
      </p:sp>
      <p:sp>
        <p:nvSpPr>
          <p:cNvPr id="9" name="Text 6"/>
          <p:cNvSpPr/>
          <p:nvPr/>
        </p:nvSpPr>
        <p:spPr>
          <a:xfrm>
            <a:off x="8006249" y="3196663"/>
            <a:ext cx="3355229" cy="178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Auditors ask what the state was on a given date. Data is mutated today, not appended, so last Tuesday cannot be reconstructed. The primitives exist. The design does not.</a:t>
            </a:r>
            <a:endParaRPr lang="en-US" sz="15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2334123"/>
            <a:ext cx="10530958" cy="54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Two questions for this room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30521" y="3559407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Pass, fail, unknown</a:t>
            </a:r>
            <a:endParaRPr lang="en-US" sz="1570" dirty="0"/>
          </a:p>
        </p:txBody>
      </p:sp>
      <p:sp>
        <p:nvSpPr>
          <p:cNvPr id="5" name="Text 2"/>
          <p:cNvSpPr/>
          <p:nvPr/>
        </p:nvSpPr>
        <p:spPr>
          <a:xfrm>
            <a:off x="830521" y="3927221"/>
            <a:ext cx="5149162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0101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Does a three-outcome model survive contact with a real auditor?</a:t>
            </a:r>
            <a:endParaRPr lang="en-US" sz="1570" dirty="0"/>
          </a:p>
        </p:txBody>
      </p:sp>
      <p:sp>
        <p:nvSpPr>
          <p:cNvPr id="6" name="Text 3"/>
          <p:cNvSpPr/>
          <p:nvPr/>
        </p:nvSpPr>
        <p:spPr>
          <a:xfrm>
            <a:off x="6212317" y="3559407"/>
            <a:ext cx="5149162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Applicability rules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6212317" y="3927221"/>
            <a:ext cx="5149162" cy="59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0101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Can they carry real legal nuance, or do they collapse at the first genuinely ambiguous article?</a:t>
            </a:r>
            <a:endParaRPr lang="en-US" sz="15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21" y="4389565"/>
            <a:ext cx="10530958" cy="70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90"/>
              </a:lnSpc>
              <a:buNone/>
            </a:pPr>
            <a:r>
              <a:rPr lang="en-US" sz="532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strawman, not a position</a:t>
            </a:r>
            <a:endParaRPr lang="en-US" sz="5320" dirty="0"/>
          </a:p>
        </p:txBody>
      </p:sp>
      <p:sp>
        <p:nvSpPr>
          <p:cNvPr id="4" name="Text 1"/>
          <p:cNvSpPr/>
          <p:nvPr/>
        </p:nvSpPr>
        <p:spPr>
          <a:xfrm>
            <a:off x="830521" y="5218578"/>
            <a:ext cx="10530958" cy="29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Poke holes in it.</a:t>
            </a:r>
            <a:endParaRPr lang="en-US" sz="1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2026-09-06T19:08:00Z</dcterms:created>
  <dcterms:modified xsi:type="dcterms:W3CDTF">2026-09-06T19:08:00Z</dcterms:modified>
</cp:coreProperties>
</file>