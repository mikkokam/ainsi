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r>
          <p:cNvPicPr>
            <a:picLocks noChangeAspect="1"/>
          </p:cNvPicPr>
          <p:nvPr/>
        </p:nvPicPr>
        <p:blipFill>
          <a:blip r:embed="rId2"/>
          <a:stretch>
            <a:fillRect/>
          </a:stretch>
        </p:blipFill>
        <p:spPr>
          <a:xfrm>
            <a:off x="11247215" y="335280"/>
            <a:ext cx="609600" cy="609600"/>
          </a:xfrm>
          <a:prstGeom prst="rect">
            <a:avLst/>
          </a:prstGeom>
        </p:spPr>
      </p:pic>
      <p:sp>
        <p:nvSpPr>
          <p:cNvPr id="4" name="Text 0"/>
          <p:cNvSpPr/>
          <p:nvPr/>
        </p:nvSpPr>
        <p:spPr>
          <a:xfrm>
            <a:off x="830520" y="2801243"/>
            <a:ext cx="10530959" cy="645914"/>
          </a:xfrm>
          <a:prstGeom prst="rect">
            <a:avLst/>
          </a:prstGeom>
          <a:noFill/>
          <a:ln/>
        </p:spPr>
        <p:txBody>
          <a:bodyPr wrap="square" lIns="0" tIns="0" rIns="0" bIns="0" rtlCol="0" anchor="t"/>
          <a:lstStyle/>
          <a:p>
            <a:pPr algn="l" indent="0" marL="0">
              <a:lnSpc>
                <a:spcPts val="5090"/>
              </a:lnSpc>
              <a:buNone/>
            </a:pPr>
            <a:r>
              <a:rPr lang="en-US" sz="4850" dirty="0">
                <a:solidFill>
                  <a:srgbClr val="111318"/>
                </a:solidFill>
                <a:latin typeface="Libre Franklin" pitchFamily="34" charset="0"/>
                <a:ea typeface="Libre Franklin" pitchFamily="34" charset="-122"/>
                <a:cs typeface="Libre Franklin" pitchFamily="34" charset="-120"/>
              </a:rPr>
              <a:t>Governance &amp; runtime enforcement</a:t>
            </a:r>
            <a:endParaRPr lang="en-US" sz="4850" dirty="0"/>
          </a:p>
        </p:txBody>
      </p:sp>
      <p:sp>
        <p:nvSpPr>
          <p:cNvPr id="5" name="Text 1"/>
          <p:cNvSpPr/>
          <p:nvPr/>
        </p:nvSpPr>
        <p:spPr>
          <a:xfrm>
            <a:off x="830520" y="3687366"/>
            <a:ext cx="10530959" cy="225177"/>
          </a:xfrm>
          <a:prstGeom prst="rect">
            <a:avLst/>
          </a:prstGeom>
          <a:noFill/>
          <a:ln/>
        </p:spPr>
        <p:txBody>
          <a:bodyPr wrap="square" lIns="0" tIns="0" rIns="0" bIns="0" rtlCol="0" anchor="t"/>
          <a:lstStyle/>
          <a:p>
            <a:pPr algn="l" indent="0" marL="0">
              <a:lnSpc>
                <a:spcPts val="1770"/>
              </a:lnSpc>
              <a:buNone/>
            </a:pPr>
            <a:r>
              <a:rPr lang="en-US" sz="1180" dirty="0">
                <a:solidFill>
                  <a:srgbClr val="111318"/>
                </a:solidFill>
                <a:latin typeface="Libre Franklin" pitchFamily="34" charset="0"/>
                <a:ea typeface="Libre Franklin" pitchFamily="34" charset="-122"/>
                <a:cs typeface="Libre Franklin" pitchFamily="34" charset="-120"/>
              </a:rPr>
              <a:t>Separate layers, and the record that joins them</a:t>
            </a:r>
            <a:endParaRPr lang="en-US" sz="1180" dirty="0"/>
          </a:p>
        </p:txBody>
      </p:sp>
      <p:sp>
        <p:nvSpPr>
          <p:cNvPr id="6" name="Text 2"/>
          <p:cNvSpPr/>
          <p:nvPr/>
        </p:nvSpPr>
        <p:spPr>
          <a:xfrm>
            <a:off x="830520" y="4152751"/>
            <a:ext cx="10530959" cy="450354"/>
          </a:xfrm>
          <a:prstGeom prst="rect">
            <a:avLst/>
          </a:prstGeom>
          <a:noFill/>
          <a:ln/>
        </p:spPr>
        <p:txBody>
          <a:bodyPr wrap="square" lIns="0" tIns="0" rIns="0" bIns="0" rtlCol="0" anchor="t"/>
          <a:lstStyle/>
          <a:p>
            <a:pPr algn="l" indent="0" marL="0">
              <a:lnSpc>
                <a:spcPts val="1770"/>
              </a:lnSpc>
              <a:buNone/>
            </a:pPr>
            <a:r>
              <a:rPr lang="en-US" sz="1180" dirty="0">
                <a:solidFill>
                  <a:srgbClr val="111318"/>
                </a:solidFill>
                <a:latin typeface="Libre Franklin" pitchFamily="34" charset="0"/>
                <a:ea typeface="Libre Franklin" pitchFamily="34" charset="-122"/>
                <a:cs typeface="Libre Franklin" pitchFamily="34" charset="-120"/>
              </a:rPr>
              <a:t>The record is the register itself: every system with its tier, the controls that apply to it,</a:t>
            </a:r>
            <a:pPr algn="l" indent="0" marL="0">
              <a:lnSpc>
                <a:spcPts val="1770"/>
              </a:lnSpc>
              <a:buNone/>
            </a:pPr>
            <a:r>
              <a:rPr lang="en-US" sz="1180" dirty="0">
                <a:solidFill>
                  <a:srgbClr val="111318"/>
                </a:solidFill>
                <a:latin typeface="Libre Franklin" pitchFamily="34" charset="0"/>
                <a:ea typeface="Libre Franklin" pitchFamily="34" charset="-122"/>
                <a:cs typeface="Libre Franklin" pitchFamily="34" charset="-120"/>
              </a:rPr>
              <a:t> the evidence behind each one, and the log of who changed what.</a:t>
            </a:r>
            <a:endParaRPr lang="en-US" sz="1180" dirty="0"/>
          </a:p>
        </p:txBody>
      </p:sp>
      <p:sp>
        <p:nvSpPr>
          <p:cNvPr id="7" name="Text 3"/>
          <p:cNvSpPr/>
          <p:nvPr/>
        </p:nvSpPr>
        <p:spPr>
          <a:xfrm>
            <a:off x="830520" y="4702522"/>
            <a:ext cx="10530959" cy="814388"/>
          </a:xfrm>
          <a:prstGeom prst="rect">
            <a:avLst/>
          </a:prstGeom>
          <a:noFill/>
          <a:ln/>
        </p:spPr>
        <p:txBody>
          <a:bodyPr wrap="square" lIns="0" tIns="0" rIns="0" bIns="0" rtlCol="0" anchor="t"/>
          <a:lstStyle/>
          <a:p>
            <a:pPr algn="l" indent="0" marL="0">
              <a:lnSpc>
                <a:spcPts val="2140"/>
              </a:lnSpc>
              <a:buNone/>
            </a:pPr>
            <a:r>
              <a:rPr lang="en-US" sz="1430" dirty="0">
                <a:solidFill>
                  <a:srgbClr val="111318"/>
                </a:solidFill>
                <a:latin typeface="Libre Franklin" pitchFamily="34" charset="0"/>
                <a:ea typeface="Libre Franklin" pitchFamily="34" charset="-122"/>
                <a:cs typeface="Libre Franklin" pitchFamily="34" charset="-120"/>
              </a:rPr>
              <a:t> CTO Mikko Kämäräinen</a:t>
            </a:r>
            <a:pPr algn="l" indent="0" marL="0">
              <a:lnSpc>
                <a:spcPts val="2140"/>
              </a:lnSpc>
              <a:buNone/>
            </a:pPr>
            <a:r>
              <a:rPr lang="en-US" sz="1430" b="1" dirty="0">
                <a:solidFill>
                  <a:srgbClr val="111318"/>
                </a:solidFill>
                <a:latin typeface="Libre Franklin" pitchFamily="34" charset="0"/>
                <a:ea typeface="Libre Franklin" pitchFamily="34" charset="-122"/>
                <a:cs typeface="Libre Franklin" pitchFamily="34" charset="-120"/>
              </a:rPr>
              <a:t>Saidot</a:t>
            </a:r>
            <a:endParaRPr lang="en-US" sz="143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r>
          <p:cNvPicPr>
            <a:picLocks noChangeAspect="1"/>
          </p:cNvPicPr>
          <p:nvPr/>
        </p:nvPicPr>
        <p:blipFill>
          <a:blip r:embed="rId2"/>
          <a:stretch>
            <a:fillRect/>
          </a:stretch>
        </p:blipFill>
        <p:spPr>
          <a:xfrm>
            <a:off x="10942415" y="6363421"/>
            <a:ext cx="914400" cy="234892"/>
          </a:xfrm>
          <a:prstGeom prst="rect">
            <a:avLst/>
          </a:prstGeom>
        </p:spPr>
      </p:pic>
      <p:sp>
        <p:nvSpPr>
          <p:cNvPr id="4" name="Text 0"/>
          <p:cNvSpPr/>
          <p:nvPr/>
        </p:nvSpPr>
        <p:spPr>
          <a:xfrm>
            <a:off x="830520" y="1232743"/>
            <a:ext cx="10530959" cy="225177"/>
          </a:xfrm>
          <a:prstGeom prst="rect">
            <a:avLst/>
          </a:prstGeom>
          <a:noFill/>
          <a:ln/>
        </p:spPr>
        <p:txBody>
          <a:bodyPr wrap="square" lIns="0" tIns="0" rIns="0" bIns="0" rtlCol="0" anchor="t"/>
          <a:lstStyle/>
          <a:p>
            <a:pPr algn="l" indent="0" marL="0">
              <a:lnSpc>
                <a:spcPts val="1770"/>
              </a:lnSpc>
              <a:buNone/>
            </a:pPr>
            <a:r>
              <a:rPr lang="en-US" sz="1180" b="1" dirty="0">
                <a:solidFill>
                  <a:srgbClr val="FFFFFF"/>
                </a:solidFill>
                <a:latin typeface="Libre Franklin" pitchFamily="34" charset="0"/>
                <a:ea typeface="Libre Franklin" pitchFamily="34" charset="-122"/>
                <a:cs typeface="Libre Franklin" pitchFamily="34" charset="-120"/>
              </a:rPr>
              <a:t>Governance and enforcement</a:t>
            </a:r>
            <a:endParaRPr lang="en-US" sz="1180" dirty="0"/>
          </a:p>
        </p:txBody>
      </p:sp>
      <p:sp>
        <p:nvSpPr>
          <p:cNvPr id="5" name="Text 1"/>
          <p:cNvSpPr/>
          <p:nvPr/>
        </p:nvSpPr>
        <p:spPr>
          <a:xfrm>
            <a:off x="830520" y="1732211"/>
            <a:ext cx="10530959" cy="495598"/>
          </a:xfrm>
          <a:prstGeom prst="rect">
            <a:avLst/>
          </a:prstGeom>
          <a:noFill/>
          <a:ln/>
        </p:spPr>
        <p:txBody>
          <a:bodyPr wrap="square" lIns="0" tIns="0" rIns="0" bIns="0" rtlCol="0" anchor="t"/>
          <a:lstStyle/>
          <a:p>
            <a:pPr algn="l" indent="0" marL="0">
              <a:lnSpc>
                <a:spcPts val="3900"/>
              </a:lnSpc>
              <a:buNone/>
            </a:pPr>
            <a:r>
              <a:rPr lang="en-US" sz="3550" dirty="0">
                <a:solidFill>
                  <a:srgbClr val="FFFFFF"/>
                </a:solidFill>
                <a:latin typeface="Libre Franklin" pitchFamily="34" charset="0"/>
                <a:ea typeface="Libre Franklin" pitchFamily="34" charset="-122"/>
                <a:cs typeface="Libre Franklin" pitchFamily="34" charset="-120"/>
              </a:rPr>
              <a:t>The systems being governed are in flux</a:t>
            </a:r>
            <a:endParaRPr lang="en-US" sz="3550" dirty="0"/>
          </a:p>
        </p:txBody>
      </p:sp>
      <p:sp>
        <p:nvSpPr>
          <p:cNvPr id="6" name="Text 2"/>
          <p:cNvSpPr/>
          <p:nvPr/>
        </p:nvSpPr>
        <p:spPr>
          <a:xfrm>
            <a:off x="1057186" y="3065859"/>
            <a:ext cx="2904559" cy="271463"/>
          </a:xfrm>
          <a:prstGeom prst="rect">
            <a:avLst/>
          </a:prstGeom>
          <a:noFill/>
          <a:ln/>
        </p:spPr>
        <p:txBody>
          <a:bodyPr wrap="square" lIns="0" tIns="0" rIns="0" bIns="0" rtlCol="0" anchor="t"/>
          <a:lstStyle/>
          <a:p>
            <a:pPr algn="l" indent="0" marL="0">
              <a:lnSpc>
                <a:spcPts val="2140"/>
              </a:lnSpc>
              <a:buNone/>
            </a:pPr>
            <a:r>
              <a:rPr lang="en-US" sz="1430" b="1" dirty="0">
                <a:solidFill>
                  <a:srgbClr val="FFFFFF"/>
                </a:solidFill>
                <a:latin typeface="Libre Franklin" pitchFamily="34" charset="0"/>
                <a:ea typeface="Libre Franklin" pitchFamily="34" charset="-122"/>
                <a:cs typeface="Libre Franklin" pitchFamily="34" charset="-120"/>
              </a:rPr>
              <a:t>Models</a:t>
            </a:r>
            <a:endParaRPr lang="en-US" sz="1430" dirty="0"/>
          </a:p>
        </p:txBody>
      </p:sp>
      <p:sp>
        <p:nvSpPr>
          <p:cNvPr id="7" name="Text 3"/>
          <p:cNvSpPr/>
          <p:nvPr/>
        </p:nvSpPr>
        <p:spPr>
          <a:xfrm>
            <a:off x="1057186" y="3400574"/>
            <a:ext cx="2904559" cy="998934"/>
          </a:xfrm>
          <a:prstGeom prst="rect">
            <a:avLst/>
          </a:prstGeom>
          <a:noFill/>
          <a:ln/>
        </p:spPr>
        <p:txBody>
          <a:bodyPr wrap="square" lIns="0" tIns="0" rIns="0" bIns="0" rtlCol="0" anchor="t"/>
          <a:lstStyle/>
          <a:p>
            <a:pPr algn="l" indent="0" marL="0">
              <a:lnSpc>
                <a:spcPts val="1970"/>
              </a:lnSpc>
              <a:buNone/>
            </a:pPr>
            <a:r>
              <a:rPr lang="en-US" sz="1310" dirty="0">
                <a:solidFill>
                  <a:srgbClr val="BCBDBE"/>
                </a:solidFill>
                <a:latin typeface="Libre Franklin" pitchFamily="34" charset="0"/>
                <a:ea typeface="Libre Franklin" pitchFamily="34" charset="-122"/>
                <a:cs typeface="Libre Franklin" pitchFamily="34" charset="-120"/>
              </a:rPr>
              <a:t>Swapped for a newer version, a cheaper provider or a fine-tune, and every system built on the old one inherits the change.</a:t>
            </a:r>
            <a:endParaRPr lang="en-US" sz="1310" dirty="0"/>
          </a:p>
        </p:txBody>
      </p:sp>
      <p:sp>
        <p:nvSpPr>
          <p:cNvPr id="8" name="Text 4"/>
          <p:cNvSpPr/>
          <p:nvPr/>
        </p:nvSpPr>
        <p:spPr>
          <a:xfrm>
            <a:off x="4643646" y="3065859"/>
            <a:ext cx="2904708" cy="271463"/>
          </a:xfrm>
          <a:prstGeom prst="rect">
            <a:avLst/>
          </a:prstGeom>
          <a:noFill/>
          <a:ln/>
        </p:spPr>
        <p:txBody>
          <a:bodyPr wrap="square" lIns="0" tIns="0" rIns="0" bIns="0" rtlCol="0" anchor="t"/>
          <a:lstStyle/>
          <a:p>
            <a:pPr algn="l" indent="0" marL="0">
              <a:lnSpc>
                <a:spcPts val="2140"/>
              </a:lnSpc>
              <a:buNone/>
            </a:pPr>
            <a:r>
              <a:rPr lang="en-US" sz="1430" b="1" dirty="0">
                <a:solidFill>
                  <a:srgbClr val="FFFFFF"/>
                </a:solidFill>
                <a:latin typeface="Libre Franklin" pitchFamily="34" charset="0"/>
                <a:ea typeface="Libre Franklin" pitchFamily="34" charset="-122"/>
                <a:cs typeface="Libre Franklin" pitchFamily="34" charset="-120"/>
              </a:rPr>
              <a:t>Platforms, systems &amp; agents</a:t>
            </a:r>
            <a:endParaRPr lang="en-US" sz="1430" dirty="0"/>
          </a:p>
        </p:txBody>
      </p:sp>
      <p:sp>
        <p:nvSpPr>
          <p:cNvPr id="9" name="Text 5"/>
          <p:cNvSpPr/>
          <p:nvPr/>
        </p:nvSpPr>
        <p:spPr>
          <a:xfrm>
            <a:off x="4643646" y="3400574"/>
            <a:ext cx="2904708" cy="998934"/>
          </a:xfrm>
          <a:prstGeom prst="rect">
            <a:avLst/>
          </a:prstGeom>
          <a:noFill/>
          <a:ln/>
        </p:spPr>
        <p:txBody>
          <a:bodyPr wrap="square" lIns="0" tIns="0" rIns="0" bIns="0" rtlCol="0" anchor="t"/>
          <a:lstStyle/>
          <a:p>
            <a:pPr algn="l" indent="0" marL="0">
              <a:lnSpc>
                <a:spcPts val="1970"/>
              </a:lnSpc>
              <a:buNone/>
            </a:pPr>
            <a:r>
              <a:rPr lang="en-US" sz="1310" dirty="0">
                <a:solidFill>
                  <a:srgbClr val="BCBDBE"/>
                </a:solidFill>
                <a:latin typeface="Libre Franklin" pitchFamily="34" charset="0"/>
                <a:ea typeface="Libre Franklin" pitchFamily="34" charset="-122"/>
                <a:cs typeface="Libre Franklin" pitchFamily="34" charset="-120"/>
              </a:rPr>
              <a:t>Built on Foundry, Bedrock, Google or in-house orchestration, acting on business systems through tools, replaced in weeks.</a:t>
            </a:r>
            <a:endParaRPr lang="en-US" sz="1310" dirty="0"/>
          </a:p>
        </p:txBody>
      </p:sp>
      <p:sp>
        <p:nvSpPr>
          <p:cNvPr id="10" name="Text 6"/>
          <p:cNvSpPr/>
          <p:nvPr/>
        </p:nvSpPr>
        <p:spPr>
          <a:xfrm>
            <a:off x="8230255" y="3065859"/>
            <a:ext cx="2904559" cy="271463"/>
          </a:xfrm>
          <a:prstGeom prst="rect">
            <a:avLst/>
          </a:prstGeom>
          <a:noFill/>
          <a:ln/>
        </p:spPr>
        <p:txBody>
          <a:bodyPr wrap="square" lIns="0" tIns="0" rIns="0" bIns="0" rtlCol="0" anchor="t"/>
          <a:lstStyle/>
          <a:p>
            <a:pPr algn="l" indent="0" marL="0">
              <a:lnSpc>
                <a:spcPts val="2140"/>
              </a:lnSpc>
              <a:buNone/>
            </a:pPr>
            <a:r>
              <a:rPr lang="en-US" sz="1430" b="1" dirty="0">
                <a:solidFill>
                  <a:srgbClr val="FFFFFF"/>
                </a:solidFill>
                <a:latin typeface="Libre Franklin" pitchFamily="34" charset="0"/>
                <a:ea typeface="Libre Franklin" pitchFamily="34" charset="-122"/>
                <a:cs typeface="Libre Franklin" pitchFamily="34" charset="-120"/>
              </a:rPr>
              <a:t>AI inside the tools already in use</a:t>
            </a:r>
            <a:endParaRPr lang="en-US" sz="1430" dirty="0"/>
          </a:p>
        </p:txBody>
      </p:sp>
      <p:sp>
        <p:nvSpPr>
          <p:cNvPr id="11" name="Text 7"/>
          <p:cNvSpPr/>
          <p:nvPr/>
        </p:nvSpPr>
        <p:spPr>
          <a:xfrm>
            <a:off x="8230255" y="3400574"/>
            <a:ext cx="2904559" cy="1498402"/>
          </a:xfrm>
          <a:prstGeom prst="rect">
            <a:avLst/>
          </a:prstGeom>
          <a:noFill/>
          <a:ln/>
        </p:spPr>
        <p:txBody>
          <a:bodyPr wrap="square" lIns="0" tIns="0" rIns="0" bIns="0" rtlCol="0" anchor="t"/>
          <a:lstStyle/>
          <a:p>
            <a:pPr algn="l" indent="0" marL="0">
              <a:lnSpc>
                <a:spcPts val="1970"/>
              </a:lnSpc>
              <a:buNone/>
            </a:pPr>
            <a:r>
              <a:rPr lang="en-US" sz="1310" dirty="0">
                <a:solidFill>
                  <a:srgbClr val="BCBDBE"/>
                </a:solidFill>
                <a:latin typeface="Libre Franklin" pitchFamily="34" charset="0"/>
                <a:ea typeface="Libre Franklin" pitchFamily="34" charset="-122"/>
                <a:cs typeface="Libre Franklin" pitchFamily="34" charset="-120"/>
              </a:rPr>
              <a:t>Copilots in productivity suites, assistants inside SaaS, GenAI in the delivery pipeline.</a:t>
            </a:r>
            <a:pPr algn="l" indent="0" marL="0">
              <a:lnSpc>
                <a:spcPts val="1970"/>
              </a:lnSpc>
              <a:buNone/>
            </a:pPr>
            <a:r>
              <a:rPr lang="en-US" sz="1310" dirty="0">
                <a:solidFill>
                  <a:srgbClr val="BCBDBE"/>
                </a:solidFill>
                <a:latin typeface="Libre Franklin" pitchFamily="34" charset="0"/>
                <a:ea typeface="Libre Franklin" pitchFamily="34" charset="-122"/>
                <a:cs typeface="Libre Franklin" pitchFamily="34" charset="-120"/>
              </a:rPr>
              <a:t> Adopted faster than any review cycle, often without anyone registering them.</a:t>
            </a:r>
            <a:endParaRPr lang="en-US" sz="1310" dirty="0"/>
          </a:p>
        </p:txBody>
      </p:sp>
      <p:sp>
        <p:nvSpPr>
          <p:cNvPr id="12" name="Text 8"/>
          <p:cNvSpPr/>
          <p:nvPr/>
        </p:nvSpPr>
        <p:spPr>
          <a:xfrm>
            <a:off x="830520" y="5399931"/>
            <a:ext cx="10530959" cy="225177"/>
          </a:xfrm>
          <a:prstGeom prst="rect">
            <a:avLst/>
          </a:prstGeom>
          <a:noFill/>
          <a:ln/>
        </p:spPr>
        <p:txBody>
          <a:bodyPr wrap="square" lIns="0" tIns="0" rIns="0" bIns="0" rtlCol="0" anchor="t"/>
          <a:lstStyle/>
          <a:p>
            <a:pPr algn="l" indent="0" marL="0">
              <a:lnSpc>
                <a:spcPts val="1770"/>
              </a:lnSpc>
              <a:buNone/>
            </a:pPr>
            <a:r>
              <a:rPr lang="en-US" sz="1180" i="1" dirty="0">
                <a:solidFill>
                  <a:srgbClr val="BCBDBE"/>
                </a:solidFill>
                <a:latin typeface="Libre Franklin" pitchFamily="34" charset="0"/>
                <a:ea typeface="Libre Franklin" pitchFamily="34" charset="-122"/>
                <a:cs typeface="Libre Franklin" pitchFamily="34" charset="-120"/>
              </a:rPr>
              <a:t>Three clouds, four agent platforms, a hundred systems? The </a:t>
            </a:r>
            <a:pPr algn="l" indent="0" marL="0">
              <a:lnSpc>
                <a:spcPts val="1770"/>
              </a:lnSpc>
              <a:buNone/>
            </a:pPr>
            <a:r>
              <a:rPr lang="en-US" sz="1180" b="1" i="1" dirty="0">
                <a:solidFill>
                  <a:srgbClr val="BCBDBE"/>
                </a:solidFill>
                <a:latin typeface="Libre Franklin" pitchFamily="34" charset="0"/>
                <a:ea typeface="Libre Franklin" pitchFamily="34" charset="-122"/>
                <a:cs typeface="Libre Franklin" pitchFamily="34" charset="-120"/>
              </a:rPr>
              <a:t>decisions</a:t>
            </a:r>
            <a:pPr algn="l" indent="0" marL="0">
              <a:lnSpc>
                <a:spcPts val="1770"/>
              </a:lnSpc>
              <a:buNone/>
            </a:pPr>
            <a:r>
              <a:rPr lang="en-US" sz="1180" i="1" dirty="0">
                <a:solidFill>
                  <a:srgbClr val="BCBDBE"/>
                </a:solidFill>
                <a:latin typeface="Libre Franklin" pitchFamily="34" charset="0"/>
                <a:ea typeface="Libre Franklin" pitchFamily="34" charset="-122"/>
                <a:cs typeface="Libre Franklin" pitchFamily="34" charset="-120"/>
              </a:rPr>
              <a:t> about them cannot live in a single runtime platform.</a:t>
            </a:r>
            <a:endParaRPr lang="en-US" sz="1180" dirty="0"/>
          </a:p>
        </p:txBody>
      </p:sp>
      <p:sp>
        <p:nvSpPr>
          <p:cNvPr id="13" name="Text 9"/>
          <p:cNvSpPr/>
          <p:nvPr/>
        </p:nvSpPr>
        <p:spPr>
          <a:xfrm>
            <a:off x="220920" y="6530429"/>
            <a:ext cx="114627" cy="114300"/>
          </a:xfrm>
          <a:prstGeom prst="rect">
            <a:avLst/>
          </a:prstGeom>
          <a:noFill/>
          <a:ln/>
        </p:spPr>
        <p:txBody>
          <a:bodyPr wrap="square" lIns="0" tIns="0" rIns="0" bIns="0" rtlCol="0" anchor="t"/>
          <a:lstStyle/>
          <a:p>
            <a:pPr algn="l" indent="0" marL="0">
              <a:lnSpc>
                <a:spcPts val="900"/>
              </a:lnSpc>
              <a:buNone/>
            </a:pPr>
            <a:r>
              <a:rPr lang="en-US" sz="900" dirty="0">
                <a:solidFill>
                  <a:srgbClr val="7C7D80"/>
                </a:solidFill>
                <a:latin typeface="SF Mono" pitchFamily="34" charset="0"/>
                <a:ea typeface="SF Mono" pitchFamily="34" charset="-122"/>
                <a:cs typeface="SF Mono"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r>
          <p:cNvPicPr>
            <a:picLocks noChangeAspect="1"/>
          </p:cNvPicPr>
          <p:nvPr/>
        </p:nvPicPr>
        <p:blipFill>
          <a:blip r:embed="rId2"/>
          <a:stretch>
            <a:fillRect/>
          </a:stretch>
        </p:blipFill>
        <p:spPr>
          <a:xfrm>
            <a:off x="10942415" y="6363421"/>
            <a:ext cx="914400" cy="234892"/>
          </a:xfrm>
          <a:prstGeom prst="rect">
            <a:avLst/>
          </a:prstGeom>
        </p:spPr>
      </p:pic>
      <p:sp>
        <p:nvSpPr>
          <p:cNvPr id="4" name="Text 0"/>
          <p:cNvSpPr/>
          <p:nvPr/>
        </p:nvSpPr>
        <p:spPr>
          <a:xfrm>
            <a:off x="830520" y="1212205"/>
            <a:ext cx="5014049" cy="411361"/>
          </a:xfrm>
          <a:prstGeom prst="rect">
            <a:avLst/>
          </a:prstGeom>
          <a:noFill/>
          <a:ln/>
        </p:spPr>
        <p:txBody>
          <a:bodyPr wrap="square" lIns="0" tIns="0" rIns="0" bIns="0" rtlCol="0" anchor="t"/>
          <a:lstStyle/>
          <a:p>
            <a:pPr algn="l" indent="0" marL="0">
              <a:lnSpc>
                <a:spcPts val="3240"/>
              </a:lnSpc>
              <a:buNone/>
            </a:pPr>
            <a:r>
              <a:rPr lang="en-US" sz="2950" dirty="0">
                <a:solidFill>
                  <a:srgbClr val="111318"/>
                </a:solidFill>
                <a:latin typeface="Libre Franklin" pitchFamily="34" charset="0"/>
                <a:ea typeface="Libre Franklin" pitchFamily="34" charset="-122"/>
                <a:cs typeface="Libre Franklin" pitchFamily="34" charset="-120"/>
              </a:rPr>
              <a:t>Three lines, one record</a:t>
            </a:r>
            <a:endParaRPr lang="en-US" sz="2950" dirty="0"/>
          </a:p>
        </p:txBody>
      </p:sp>
      <p:sp>
        <p:nvSpPr>
          <p:cNvPr id="5" name="Text 1"/>
          <p:cNvSpPr/>
          <p:nvPr/>
        </p:nvSpPr>
        <p:spPr>
          <a:xfrm>
            <a:off x="830520" y="1732062"/>
            <a:ext cx="5014049" cy="814388"/>
          </a:xfrm>
          <a:prstGeom prst="rect">
            <a:avLst/>
          </a:prstGeom>
          <a:noFill/>
          <a:ln/>
        </p:spPr>
        <p:txBody>
          <a:bodyPr wrap="square" lIns="0" tIns="0" rIns="0" bIns="0" rtlCol="0" anchor="t"/>
          <a:lstStyle/>
          <a:p>
            <a:pPr algn="l" indent="0" marL="0">
              <a:lnSpc>
                <a:spcPts val="2140"/>
              </a:lnSpc>
              <a:buNone/>
            </a:pPr>
            <a:r>
              <a:rPr lang="en-US" sz="1430" i="1" dirty="0">
                <a:solidFill>
                  <a:srgbClr val="111318"/>
                </a:solidFill>
                <a:latin typeface="Libre Franklin" pitchFamily="34" charset="0"/>
                <a:ea typeface="Libre Franklin" pitchFamily="34" charset="-122"/>
                <a:cs typeface="Libre Franklin" pitchFamily="34" charset="-120"/>
              </a:rPr>
              <a:t>The model is not new.</a:t>
            </a:r>
            <a:pPr algn="l" indent="0" marL="0">
              <a:lnSpc>
                <a:spcPts val="2140"/>
              </a:lnSpc>
              <a:buNone/>
            </a:pPr>
            <a:r>
              <a:rPr lang="en-US" sz="1430" dirty="0">
                <a:solidFill>
                  <a:srgbClr val="111318"/>
                </a:solidFill>
                <a:latin typeface="Libre Franklin" pitchFamily="34" charset="0"/>
                <a:ea typeface="Libre Franklin" pitchFamily="34" charset="-122"/>
                <a:cs typeface="Libre Franklin" pitchFamily="34" charset="-120"/>
              </a:rPr>
              <a:t> What is new is what sits in the first line: a platform that enforces its own controls and reports on itself.</a:t>
            </a:r>
            <a:endParaRPr lang="en-US" sz="1430" dirty="0"/>
          </a:p>
        </p:txBody>
      </p:sp>
      <p:sp>
        <p:nvSpPr>
          <p:cNvPr id="6" name="Text 2"/>
          <p:cNvSpPr/>
          <p:nvPr/>
        </p:nvSpPr>
        <p:spPr>
          <a:xfrm>
            <a:off x="830520" y="2645866"/>
            <a:ext cx="5014049" cy="814388"/>
          </a:xfrm>
          <a:prstGeom prst="rect">
            <a:avLst/>
          </a:prstGeom>
          <a:noFill/>
          <a:ln/>
        </p:spPr>
        <p:txBody>
          <a:bodyPr wrap="square" lIns="0" tIns="0" rIns="0" bIns="0" rtlCol="0" anchor="t"/>
          <a:lstStyle/>
          <a:p>
            <a:pPr algn="l" indent="0" marL="0">
              <a:lnSpc>
                <a:spcPts val="2140"/>
              </a:lnSpc>
              <a:buNone/>
            </a:pPr>
            <a:r>
              <a:rPr lang="en-US" sz="1430" dirty="0">
                <a:solidFill>
                  <a:srgbClr val="111318"/>
                </a:solidFill>
                <a:latin typeface="Libre Franklin" pitchFamily="34" charset="0"/>
                <a:ea typeface="Libre Franklin" pitchFamily="34" charset="-122"/>
                <a:cs typeface="Libre Franklin" pitchFamily="34" charset="-120"/>
              </a:rPr>
              <a:t>The second line needs its own record. The first line emits the evidence. It does not hold the register, set the tier, or decide when a control is satisfied.</a:t>
            </a:r>
            <a:endParaRPr lang="en-US" sz="1430" dirty="0"/>
          </a:p>
        </p:txBody>
      </p:sp>
      <p:sp>
        <p:nvSpPr>
          <p:cNvPr id="7" name="Text 3"/>
          <p:cNvSpPr/>
          <p:nvPr/>
        </p:nvSpPr>
        <p:spPr>
          <a:xfrm>
            <a:off x="830520" y="3559671"/>
            <a:ext cx="5014049" cy="1085850"/>
          </a:xfrm>
          <a:prstGeom prst="rect">
            <a:avLst/>
          </a:prstGeom>
          <a:noFill/>
          <a:ln/>
        </p:spPr>
        <p:txBody>
          <a:bodyPr wrap="square" lIns="0" tIns="0" rIns="0" bIns="0" rtlCol="0" anchor="t"/>
          <a:lstStyle/>
          <a:p>
            <a:pPr algn="l" indent="0" marL="0">
              <a:lnSpc>
                <a:spcPts val="2140"/>
              </a:lnSpc>
              <a:buNone/>
            </a:pPr>
            <a:r>
              <a:rPr lang="en-US" sz="1430" dirty="0">
                <a:solidFill>
                  <a:srgbClr val="111318"/>
                </a:solidFill>
                <a:latin typeface="Libre Franklin" pitchFamily="34" charset="0"/>
                <a:ea typeface="Libre Franklin" pitchFamily="34" charset="-122"/>
                <a:cs typeface="Libre Franklin" pitchFamily="34" charset="-120"/>
              </a:rPr>
              <a:t>The third line tests that record against what actually ran, sampling the runtime directly. Neither internal audit nor an external assessor should have to ask the teams under audit to assemble their own evidence.</a:t>
            </a:r>
            <a:endParaRPr lang="en-US" sz="1430" dirty="0"/>
          </a:p>
        </p:txBody>
      </p:sp>
      <p:sp>
        <p:nvSpPr>
          <p:cNvPr id="8" name="Text 4"/>
          <p:cNvSpPr/>
          <p:nvPr/>
        </p:nvSpPr>
        <p:spPr>
          <a:xfrm>
            <a:off x="830520" y="4744938"/>
            <a:ext cx="5014049" cy="900708"/>
          </a:xfrm>
          <a:prstGeom prst="rect">
            <a:avLst/>
          </a:prstGeom>
          <a:noFill/>
          <a:ln/>
        </p:spPr>
        <p:txBody>
          <a:bodyPr wrap="square" lIns="0" tIns="0" rIns="0" bIns="0" rtlCol="0" anchor="t"/>
          <a:lstStyle/>
          <a:p>
            <a:pPr algn="l" indent="0" marL="0">
              <a:lnSpc>
                <a:spcPts val="1770"/>
              </a:lnSpc>
              <a:buNone/>
            </a:pPr>
            <a:r>
              <a:rPr lang="en-US" sz="1180" dirty="0">
                <a:solidFill>
                  <a:srgbClr val="5B6270"/>
                </a:solidFill>
                <a:latin typeface="Libre Franklin" pitchFamily="34" charset="0"/>
                <a:ea typeface="Libre Franklin" pitchFamily="34" charset="-122"/>
                <a:cs typeface="Libre Franklin" pitchFamily="34" charset="-120"/>
              </a:rPr>
              <a:t>ISO/IEC 42001 asks for internal audit and management review.</a:t>
            </a:r>
            <a:pPr algn="l" indent="0" marL="0">
              <a:lnSpc>
                <a:spcPts val="1770"/>
              </a:lnSpc>
              <a:buNone/>
            </a:pPr>
            <a:r>
              <a:rPr lang="en-US" sz="1180" dirty="0">
                <a:solidFill>
                  <a:srgbClr val="5B6270"/>
                </a:solidFill>
                <a:latin typeface="Libre Franklin" pitchFamily="34" charset="0"/>
                <a:ea typeface="Libre Franklin" pitchFamily="34" charset="-122"/>
                <a:cs typeface="Libre Franklin" pitchFamily="34" charset="-120"/>
              </a:rPr>
              <a:t> The EU AI Act asks high-risk providers for a conformity assessment, in most cases their own, and the technical documentation behind it. Both assume the record exists.</a:t>
            </a:r>
            <a:endParaRPr lang="en-US" sz="1180" dirty="0"/>
          </a:p>
        </p:txBody>
      </p:sp>
      <p:sp>
        <p:nvSpPr>
          <p:cNvPr id="9" name="Text 5"/>
          <p:cNvSpPr/>
          <p:nvPr/>
        </p:nvSpPr>
        <p:spPr>
          <a:xfrm>
            <a:off x="220920" y="6530429"/>
            <a:ext cx="114627" cy="114300"/>
          </a:xfrm>
          <a:prstGeom prst="rect">
            <a:avLst/>
          </a:prstGeom>
          <a:noFill/>
          <a:ln/>
        </p:spPr>
        <p:txBody>
          <a:bodyPr wrap="square" lIns="0" tIns="0" rIns="0" bIns="0" rtlCol="0" anchor="t"/>
          <a:lstStyle/>
          <a:p>
            <a:pPr algn="l" indent="0" marL="0">
              <a:lnSpc>
                <a:spcPts val="900"/>
              </a:lnSpc>
              <a:buNone/>
            </a:pPr>
            <a:r>
              <a:rPr lang="en-US" sz="900" dirty="0">
                <a:solidFill>
                  <a:srgbClr val="949597"/>
                </a:solidFill>
                <a:latin typeface="SF Mono" pitchFamily="34" charset="0"/>
                <a:ea typeface="SF Mono" pitchFamily="34" charset="-122"/>
                <a:cs typeface="SF Mono"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r>
          <p:cNvPicPr>
            <a:picLocks noChangeAspect="1"/>
          </p:cNvPicPr>
          <p:nvPr/>
        </p:nvPicPr>
        <p:blipFill>
          <a:blip r:embed="rId2"/>
          <a:stretch>
            <a:fillRect/>
          </a:stretch>
        </p:blipFill>
        <p:spPr>
          <a:xfrm>
            <a:off x="10942415" y="6363421"/>
            <a:ext cx="914400" cy="234892"/>
          </a:xfrm>
          <a:prstGeom prst="rect">
            <a:avLst/>
          </a:prstGeom>
        </p:spPr>
      </p:pic>
      <p:sp>
        <p:nvSpPr>
          <p:cNvPr id="4" name="Text 0"/>
          <p:cNvSpPr/>
          <p:nvPr/>
        </p:nvSpPr>
        <p:spPr>
          <a:xfrm>
            <a:off x="830520" y="1175147"/>
            <a:ext cx="2982099" cy="822722"/>
          </a:xfrm>
          <a:prstGeom prst="rect">
            <a:avLst/>
          </a:prstGeom>
          <a:noFill/>
          <a:ln/>
        </p:spPr>
        <p:txBody>
          <a:bodyPr wrap="square" lIns="0" tIns="0" rIns="0" bIns="0" rtlCol="0" anchor="t"/>
          <a:lstStyle/>
          <a:p>
            <a:pPr algn="l" indent="0" marL="0">
              <a:lnSpc>
                <a:spcPts val="3240"/>
              </a:lnSpc>
              <a:buNone/>
            </a:pPr>
            <a:r>
              <a:rPr lang="en-US" sz="2950" dirty="0">
                <a:solidFill>
                  <a:srgbClr val="111318"/>
                </a:solidFill>
                <a:latin typeface="Libre Franklin" pitchFamily="34" charset="0"/>
                <a:ea typeface="Libre Franklin" pitchFamily="34" charset="-122"/>
                <a:cs typeface="Libre Franklin" pitchFamily="34" charset="-120"/>
              </a:rPr>
              <a:t>Governance is a separate role</a:t>
            </a:r>
            <a:endParaRPr lang="en-US" sz="2950" dirty="0"/>
          </a:p>
        </p:txBody>
      </p:sp>
      <p:sp>
        <p:nvSpPr>
          <p:cNvPr id="5" name="Text 1"/>
          <p:cNvSpPr/>
          <p:nvPr/>
        </p:nvSpPr>
        <p:spPr>
          <a:xfrm>
            <a:off x="830520" y="2106364"/>
            <a:ext cx="2982099" cy="1576239"/>
          </a:xfrm>
          <a:prstGeom prst="rect">
            <a:avLst/>
          </a:prstGeom>
          <a:noFill/>
          <a:ln/>
        </p:spPr>
        <p:txBody>
          <a:bodyPr wrap="square" lIns="0" tIns="0" rIns="0" bIns="0" rtlCol="0" anchor="t"/>
          <a:lstStyle/>
          <a:p>
            <a:pPr algn="l" indent="0" marL="0">
              <a:lnSpc>
                <a:spcPts val="1770"/>
              </a:lnSpc>
              <a:buNone/>
            </a:pPr>
            <a:r>
              <a:rPr lang="en-US" sz="1180" i="1" dirty="0">
                <a:solidFill>
                  <a:srgbClr val="111318"/>
                </a:solidFill>
                <a:latin typeface="Libre Franklin" pitchFamily="34" charset="0"/>
                <a:ea typeface="Libre Franklin" pitchFamily="34" charset="-122"/>
                <a:cs typeface="Libre Franklin" pitchFamily="34" charset="-120"/>
              </a:rPr>
              <a:t>The decisions are the organisation's: which frameworks apply, the risk appetite, the tier of each system, the controls it must satisfy, who is accountable. They have to survive a platform swap - or systems covering many - so they live above all of the platforms, in one place.</a:t>
            </a:r>
            <a:endParaRPr lang="en-US" sz="1180" dirty="0"/>
          </a:p>
        </p:txBody>
      </p:sp>
      <p:sp>
        <p:nvSpPr>
          <p:cNvPr id="6" name="Text 2"/>
          <p:cNvSpPr/>
          <p:nvPr/>
        </p:nvSpPr>
        <p:spPr>
          <a:xfrm>
            <a:off x="830520" y="3782020"/>
            <a:ext cx="2982099" cy="900708"/>
          </a:xfrm>
          <a:prstGeom prst="rect">
            <a:avLst/>
          </a:prstGeom>
          <a:noFill/>
          <a:ln/>
        </p:spPr>
        <p:txBody>
          <a:bodyPr wrap="square" lIns="0" tIns="0" rIns="0" bIns="0" rtlCol="0" anchor="t"/>
          <a:lstStyle/>
          <a:p>
            <a:pPr algn="l" indent="0" marL="0">
              <a:lnSpc>
                <a:spcPts val="1770"/>
              </a:lnSpc>
              <a:buNone/>
            </a:pPr>
            <a:r>
              <a:rPr lang="en-US" sz="1180" dirty="0">
                <a:solidFill>
                  <a:srgbClr val="111318"/>
                </a:solidFill>
                <a:latin typeface="Libre Franklin" pitchFamily="34" charset="0"/>
                <a:ea typeface="Libre Franklin" pitchFamily="34" charset="-122"/>
                <a:cs typeface="Libre Franklin" pitchFamily="34" charset="-120"/>
              </a:rPr>
              <a:t>A runtime enforces what it runs and reports on itself. Oversight of that enforcement is a different accountability. The first line cannot be its own second.</a:t>
            </a:r>
            <a:endParaRPr lang="en-US" sz="1180" dirty="0"/>
          </a:p>
        </p:txBody>
      </p:sp>
      <p:sp>
        <p:nvSpPr>
          <p:cNvPr id="7" name="Text 3"/>
          <p:cNvSpPr/>
          <p:nvPr/>
        </p:nvSpPr>
        <p:spPr>
          <a:xfrm>
            <a:off x="830520" y="4782145"/>
            <a:ext cx="2982099" cy="900708"/>
          </a:xfrm>
          <a:prstGeom prst="rect">
            <a:avLst/>
          </a:prstGeom>
          <a:noFill/>
          <a:ln/>
        </p:spPr>
        <p:txBody>
          <a:bodyPr wrap="square" lIns="0" tIns="0" rIns="0" bIns="0" rtlCol="0" anchor="t"/>
          <a:lstStyle/>
          <a:p>
            <a:pPr algn="l" indent="0" marL="0">
              <a:lnSpc>
                <a:spcPts val="1770"/>
              </a:lnSpc>
              <a:buNone/>
            </a:pPr>
            <a:r>
              <a:rPr lang="en-US" sz="1180" dirty="0">
                <a:solidFill>
                  <a:srgbClr val="111318"/>
                </a:solidFill>
                <a:latin typeface="Libre Franklin" pitchFamily="34" charset="0"/>
                <a:ea typeface="Libre Franklin" pitchFamily="34" charset="-122"/>
                <a:cs typeface="Libre Franklin" pitchFamily="34" charset="-120"/>
              </a:rPr>
              <a:t>The platform knows who ran a workflow. It does not know the system's purpose, its tier or its owner. Risk is contextual, so that is decided where the use case is.</a:t>
            </a:r>
            <a:endParaRPr lang="en-US" sz="1180" dirty="0"/>
          </a:p>
        </p:txBody>
      </p:sp>
      <p:sp>
        <p:nvSpPr>
          <p:cNvPr id="8" name="Text 4"/>
          <p:cNvSpPr/>
          <p:nvPr/>
        </p:nvSpPr>
        <p:spPr>
          <a:xfrm>
            <a:off x="220920" y="6530429"/>
            <a:ext cx="114627" cy="114300"/>
          </a:xfrm>
          <a:prstGeom prst="rect">
            <a:avLst/>
          </a:prstGeom>
          <a:noFill/>
          <a:ln/>
        </p:spPr>
        <p:txBody>
          <a:bodyPr wrap="square" lIns="0" tIns="0" rIns="0" bIns="0" rtlCol="0" anchor="t"/>
          <a:lstStyle/>
          <a:p>
            <a:pPr algn="l" indent="0" marL="0">
              <a:lnSpc>
                <a:spcPts val="900"/>
              </a:lnSpc>
              <a:buNone/>
            </a:pPr>
            <a:r>
              <a:rPr lang="en-US" sz="900" dirty="0">
                <a:solidFill>
                  <a:srgbClr val="949597"/>
                </a:solidFill>
                <a:latin typeface="SF Mono" pitchFamily="34" charset="0"/>
                <a:ea typeface="SF Mono" pitchFamily="34" charset="-122"/>
                <a:cs typeface="SF Mono"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r>
          <p:cNvPicPr>
            <a:picLocks noChangeAspect="1"/>
          </p:cNvPicPr>
          <p:nvPr/>
        </p:nvPicPr>
        <p:blipFill>
          <a:blip r:embed="rId2"/>
          <a:stretch>
            <a:fillRect/>
          </a:stretch>
        </p:blipFill>
        <p:spPr>
          <a:xfrm>
            <a:off x="10942415" y="6363421"/>
            <a:ext cx="914400" cy="234892"/>
          </a:xfrm>
          <a:prstGeom prst="rect">
            <a:avLst/>
          </a:prstGeom>
        </p:spPr>
      </p:pic>
      <p:sp>
        <p:nvSpPr>
          <p:cNvPr id="4" name="Text 0"/>
          <p:cNvSpPr/>
          <p:nvPr/>
        </p:nvSpPr>
        <p:spPr>
          <a:xfrm>
            <a:off x="830520" y="931664"/>
            <a:ext cx="10530959" cy="416272"/>
          </a:xfrm>
          <a:prstGeom prst="rect">
            <a:avLst/>
          </a:prstGeom>
          <a:noFill/>
          <a:ln/>
        </p:spPr>
        <p:txBody>
          <a:bodyPr wrap="square" lIns="0" tIns="0" rIns="0" bIns="0" rtlCol="0" anchor="t"/>
          <a:lstStyle/>
          <a:p>
            <a:pPr algn="l" indent="0" marL="0">
              <a:lnSpc>
                <a:spcPts val="3280"/>
              </a:lnSpc>
              <a:buNone/>
            </a:pPr>
            <a:r>
              <a:rPr lang="en-US" sz="2980" dirty="0">
                <a:solidFill>
                  <a:srgbClr val="111318"/>
                </a:solidFill>
                <a:latin typeface="Libre Franklin" pitchFamily="34" charset="0"/>
                <a:ea typeface="Libre Franklin" pitchFamily="34" charset="-122"/>
                <a:cs typeface="Libre Franklin" pitchFamily="34" charset="-120"/>
              </a:rPr>
              <a:t>Enforcement stays in the runtime</a:t>
            </a:r>
            <a:endParaRPr lang="en-US" sz="2980" dirty="0"/>
          </a:p>
        </p:txBody>
      </p:sp>
      <p:sp>
        <p:nvSpPr>
          <p:cNvPr id="5" name="Text 1"/>
          <p:cNvSpPr/>
          <p:nvPr/>
        </p:nvSpPr>
        <p:spPr>
          <a:xfrm>
            <a:off x="830520" y="1439019"/>
            <a:ext cx="10530959" cy="378619"/>
          </a:xfrm>
          <a:prstGeom prst="rect">
            <a:avLst/>
          </a:prstGeom>
          <a:noFill/>
          <a:ln/>
        </p:spPr>
        <p:txBody>
          <a:bodyPr wrap="square" lIns="0" tIns="0" rIns="0" bIns="0" rtlCol="0" anchor="t"/>
          <a:lstStyle/>
          <a:p>
            <a:pPr algn="l" indent="0" marL="0">
              <a:lnSpc>
                <a:spcPts val="1490"/>
              </a:lnSpc>
              <a:buNone/>
            </a:pPr>
            <a:r>
              <a:rPr lang="en-US" sz="990" dirty="0">
                <a:solidFill>
                  <a:srgbClr val="111318"/>
                </a:solidFill>
                <a:latin typeface="Libre Franklin" pitchFamily="34" charset="0"/>
                <a:ea typeface="Libre Franklin" pitchFamily="34" charset="-122"/>
                <a:cs typeface="Libre Franklin" pitchFamily="34" charset="-120"/>
              </a:rPr>
              <a:t>Enforcement on platforms: largely solved; and the hot path is where it belongs.</a:t>
            </a:r>
            <a:pPr algn="l" indent="0" marL="0">
              <a:lnSpc>
                <a:spcPts val="1490"/>
              </a:lnSpc>
              <a:buNone/>
            </a:pPr>
            <a:r>
              <a:rPr lang="en-US" sz="990" dirty="0">
                <a:solidFill>
                  <a:srgbClr val="111318"/>
                </a:solidFill>
                <a:latin typeface="Libre Franklin" pitchFamily="34" charset="0"/>
                <a:ea typeface="Libre Franklin" pitchFamily="34" charset="-122"/>
                <a:cs typeface="Libre Franklin" pitchFamily="34" charset="-120"/>
              </a:rPr>
              <a:t> What is missing sits at both ends: a control authored once, and the event that proves it held.</a:t>
            </a:r>
            <a:endParaRPr lang="en-US" sz="990" dirty="0"/>
          </a:p>
        </p:txBody>
      </p:sp>
      <p:sp>
        <p:nvSpPr>
          <p:cNvPr id="6" name="Text 2"/>
          <p:cNvSpPr/>
          <p:nvPr/>
        </p:nvSpPr>
        <p:spPr>
          <a:xfrm>
            <a:off x="830520" y="5547717"/>
            <a:ext cx="10530959" cy="378619"/>
          </a:xfrm>
          <a:prstGeom prst="rect">
            <a:avLst/>
          </a:prstGeom>
          <a:noFill/>
          <a:ln/>
        </p:spPr>
        <p:txBody>
          <a:bodyPr wrap="square" lIns="0" tIns="0" rIns="0" bIns="0" rtlCol="0" anchor="t"/>
          <a:lstStyle/>
          <a:p>
            <a:pPr algn="l" indent="0" marL="0">
              <a:lnSpc>
                <a:spcPts val="1490"/>
              </a:lnSpc>
              <a:buNone/>
            </a:pPr>
            <a:r>
              <a:rPr lang="en-US" sz="990" dirty="0">
                <a:solidFill>
                  <a:srgbClr val="111318"/>
                </a:solidFill>
                <a:latin typeface="Libre Franklin" pitchFamily="34" charset="0"/>
                <a:ea typeface="Libre Franklin" pitchFamily="34" charset="-122"/>
                <a:cs typeface="Libre Franklin" pitchFamily="34" charset="-120"/>
              </a:rPr>
              <a:t>Current: Your team writes the rule, as it does today. No new component sits between your agents and your models.</a:t>
            </a:r>
            <a:pPr algn="l" indent="0" marL="0">
              <a:lnSpc>
                <a:spcPts val="1490"/>
              </a:lnSpc>
              <a:buNone/>
            </a:pPr>
            <a:r>
              <a:rPr lang="en-US" sz="990" dirty="0">
                <a:solidFill>
                  <a:srgbClr val="111318"/>
                </a:solidFill>
                <a:latin typeface="Libre Franklin" pitchFamily="34" charset="0"/>
                <a:ea typeface="Libre Franklin" pitchFamily="34" charset="-122"/>
                <a:cs typeface="Libre Franklin" pitchFamily="34" charset="-120"/>
              </a:rPr>
              <a:t> Planned: Working to automate or help creating rules.</a:t>
            </a:r>
            <a:endParaRPr lang="en-US" sz="990" dirty="0"/>
          </a:p>
        </p:txBody>
      </p:sp>
      <p:sp>
        <p:nvSpPr>
          <p:cNvPr id="7" name="Text 3"/>
          <p:cNvSpPr/>
          <p:nvPr/>
        </p:nvSpPr>
        <p:spPr>
          <a:xfrm>
            <a:off x="220920" y="6530429"/>
            <a:ext cx="114627" cy="114300"/>
          </a:xfrm>
          <a:prstGeom prst="rect">
            <a:avLst/>
          </a:prstGeom>
          <a:noFill/>
          <a:ln/>
        </p:spPr>
        <p:txBody>
          <a:bodyPr wrap="square" lIns="0" tIns="0" rIns="0" bIns="0" rtlCol="0" anchor="t"/>
          <a:lstStyle/>
          <a:p>
            <a:pPr algn="l" indent="0" marL="0">
              <a:lnSpc>
                <a:spcPts val="900"/>
              </a:lnSpc>
              <a:buNone/>
            </a:pPr>
            <a:r>
              <a:rPr lang="en-US" sz="900" dirty="0">
                <a:solidFill>
                  <a:srgbClr val="949597"/>
                </a:solidFill>
                <a:latin typeface="SF Mono" pitchFamily="34" charset="0"/>
                <a:ea typeface="SF Mono" pitchFamily="34" charset="-122"/>
                <a:cs typeface="SF Mono"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r>
          <p:cNvPicPr>
            <a:picLocks noChangeAspect="1"/>
          </p:cNvPicPr>
          <p:nvPr/>
        </p:nvPicPr>
        <p:blipFill>
          <a:blip r:embed="rId2"/>
          <a:stretch>
            <a:fillRect/>
          </a:stretch>
        </p:blipFill>
        <p:spPr>
          <a:xfrm>
            <a:off x="10942415" y="6363421"/>
            <a:ext cx="914400" cy="234892"/>
          </a:xfrm>
          <a:prstGeom prst="rect">
            <a:avLst/>
          </a:prstGeom>
        </p:spPr>
      </p:pic>
      <p:sp>
        <p:nvSpPr>
          <p:cNvPr id="4" name="Text 0"/>
          <p:cNvSpPr/>
          <p:nvPr/>
        </p:nvSpPr>
        <p:spPr>
          <a:xfrm>
            <a:off x="830520" y="1344216"/>
            <a:ext cx="10530959" cy="436066"/>
          </a:xfrm>
          <a:prstGeom prst="rect">
            <a:avLst/>
          </a:prstGeom>
          <a:noFill/>
          <a:ln/>
        </p:spPr>
        <p:txBody>
          <a:bodyPr wrap="square" lIns="0" tIns="0" rIns="0" bIns="0" rtlCol="0" anchor="t"/>
          <a:lstStyle/>
          <a:p>
            <a:pPr algn="l" indent="0" marL="0">
              <a:lnSpc>
                <a:spcPts val="3430"/>
              </a:lnSpc>
              <a:buNone/>
            </a:pPr>
            <a:r>
              <a:rPr lang="en-US" sz="3120" dirty="0">
                <a:solidFill>
                  <a:srgbClr val="111318"/>
                </a:solidFill>
                <a:latin typeface="Libre Franklin" pitchFamily="34" charset="0"/>
                <a:ea typeface="Libre Franklin" pitchFamily="34" charset="-122"/>
                <a:cs typeface="Libre Franklin" pitchFamily="34" charset="-120"/>
              </a:rPr>
              <a:t>How a decision travels</a:t>
            </a:r>
            <a:endParaRPr lang="en-US" sz="3120" dirty="0"/>
          </a:p>
        </p:txBody>
      </p:sp>
      <p:sp>
        <p:nvSpPr>
          <p:cNvPr id="5" name="Text 1"/>
          <p:cNvSpPr/>
          <p:nvPr/>
        </p:nvSpPr>
        <p:spPr>
          <a:xfrm>
            <a:off x="830520" y="2557909"/>
            <a:ext cx="1564660" cy="238869"/>
          </a:xfrm>
          <a:prstGeom prst="rect">
            <a:avLst/>
          </a:prstGeom>
          <a:noFill/>
          <a:ln/>
        </p:spPr>
        <p:txBody>
          <a:bodyPr wrap="square" lIns="0" tIns="0" rIns="0" bIns="0" rtlCol="0" anchor="t"/>
          <a:lstStyle/>
          <a:p>
            <a:pPr algn="l" indent="0" marL="0">
              <a:lnSpc>
                <a:spcPts val="1880"/>
              </a:lnSpc>
              <a:buNone/>
            </a:pPr>
            <a:r>
              <a:rPr lang="en-US" sz="1250" b="1" dirty="0">
                <a:solidFill>
                  <a:srgbClr val="111318"/>
                </a:solidFill>
                <a:latin typeface="Libre Franklin" pitchFamily="34" charset="0"/>
                <a:ea typeface="Libre Franklin" pitchFamily="34" charset="-122"/>
                <a:cs typeface="Libre Franklin" pitchFamily="34" charset="-120"/>
              </a:rPr>
              <a:t>Register</a:t>
            </a:r>
            <a:endParaRPr lang="en-US" sz="1250" dirty="0"/>
          </a:p>
        </p:txBody>
      </p:sp>
      <p:sp>
        <p:nvSpPr>
          <p:cNvPr id="6" name="Text 2"/>
          <p:cNvSpPr/>
          <p:nvPr/>
        </p:nvSpPr>
        <p:spPr>
          <a:xfrm>
            <a:off x="830520" y="2844552"/>
            <a:ext cx="1564660" cy="1318022"/>
          </a:xfrm>
          <a:prstGeom prst="rect">
            <a:avLst/>
          </a:prstGeom>
          <a:noFill/>
          <a:ln/>
        </p:spPr>
        <p:txBody>
          <a:bodyPr wrap="square" lIns="0" tIns="0" rIns="0" bIns="0" rtlCol="0" anchor="t"/>
          <a:lstStyle/>
          <a:p>
            <a:pPr algn="l" indent="0" marL="0">
              <a:lnSpc>
                <a:spcPts val="1730"/>
              </a:lnSpc>
              <a:buNone/>
            </a:pPr>
            <a:r>
              <a:rPr lang="en-US" sz="1150" dirty="0">
                <a:solidFill>
                  <a:srgbClr val="5B6270"/>
                </a:solidFill>
                <a:latin typeface="Libre Franklin" pitchFamily="34" charset="0"/>
                <a:ea typeface="Libre Franklin" pitchFamily="34" charset="-122"/>
                <a:cs typeface="Libre Franklin" pitchFamily="34" charset="-120"/>
              </a:rPr>
              <a:t>Systems, models, agents, datasets and tools land in one graph, by hand, by connector, or by an agent over MCP.</a:t>
            </a:r>
            <a:endParaRPr lang="en-US" sz="1150" dirty="0"/>
          </a:p>
        </p:txBody>
      </p:sp>
      <p:sp>
        <p:nvSpPr>
          <p:cNvPr id="7" name="Text 3"/>
          <p:cNvSpPr/>
          <p:nvPr/>
        </p:nvSpPr>
        <p:spPr>
          <a:xfrm>
            <a:off x="2623751" y="2557909"/>
            <a:ext cx="1564660" cy="238869"/>
          </a:xfrm>
          <a:prstGeom prst="rect">
            <a:avLst/>
          </a:prstGeom>
          <a:noFill/>
          <a:ln/>
        </p:spPr>
        <p:txBody>
          <a:bodyPr wrap="square" lIns="0" tIns="0" rIns="0" bIns="0" rtlCol="0" anchor="t"/>
          <a:lstStyle/>
          <a:p>
            <a:pPr algn="l" indent="0" marL="0">
              <a:lnSpc>
                <a:spcPts val="1880"/>
              </a:lnSpc>
              <a:buNone/>
            </a:pPr>
            <a:r>
              <a:rPr lang="en-US" sz="1250" b="1" dirty="0">
                <a:solidFill>
                  <a:srgbClr val="111318"/>
                </a:solidFill>
                <a:latin typeface="Libre Franklin" pitchFamily="34" charset="0"/>
                <a:ea typeface="Libre Franklin" pitchFamily="34" charset="-122"/>
                <a:cs typeface="Libre Franklin" pitchFamily="34" charset="-120"/>
              </a:rPr>
              <a:t>Classify</a:t>
            </a:r>
            <a:endParaRPr lang="en-US" sz="1250" dirty="0"/>
          </a:p>
        </p:txBody>
      </p:sp>
      <p:sp>
        <p:nvSpPr>
          <p:cNvPr id="8" name="Text 4"/>
          <p:cNvSpPr/>
          <p:nvPr/>
        </p:nvSpPr>
        <p:spPr>
          <a:xfrm>
            <a:off x="2623751" y="2844552"/>
            <a:ext cx="1564660" cy="1098352"/>
          </a:xfrm>
          <a:prstGeom prst="rect">
            <a:avLst/>
          </a:prstGeom>
          <a:noFill/>
          <a:ln/>
        </p:spPr>
        <p:txBody>
          <a:bodyPr wrap="square" lIns="0" tIns="0" rIns="0" bIns="0" rtlCol="0" anchor="t"/>
          <a:lstStyle/>
          <a:p>
            <a:pPr algn="l" indent="0" marL="0">
              <a:lnSpc>
                <a:spcPts val="1730"/>
              </a:lnSpc>
              <a:buNone/>
            </a:pPr>
            <a:r>
              <a:rPr lang="en-US" sz="1150" dirty="0">
                <a:solidFill>
                  <a:srgbClr val="5B6270"/>
                </a:solidFill>
                <a:latin typeface="Libre Franklin" pitchFamily="34" charset="0"/>
                <a:ea typeface="Libre Franklin" pitchFamily="34" charset="-122"/>
                <a:cs typeface="Libre Franklin" pitchFamily="34" charset="-120"/>
              </a:rPr>
              <a:t>Rules read the metadata, region, use, linked components, and set the tier. A person ratifies it.</a:t>
            </a:r>
            <a:endParaRPr lang="en-US" sz="1150" dirty="0"/>
          </a:p>
        </p:txBody>
      </p:sp>
      <p:sp>
        <p:nvSpPr>
          <p:cNvPr id="9" name="Text 5"/>
          <p:cNvSpPr/>
          <p:nvPr/>
        </p:nvSpPr>
        <p:spPr>
          <a:xfrm>
            <a:off x="4416981" y="2557909"/>
            <a:ext cx="1564660" cy="238869"/>
          </a:xfrm>
          <a:prstGeom prst="rect">
            <a:avLst/>
          </a:prstGeom>
          <a:noFill/>
          <a:ln/>
        </p:spPr>
        <p:txBody>
          <a:bodyPr wrap="square" lIns="0" tIns="0" rIns="0" bIns="0" rtlCol="0" anchor="t"/>
          <a:lstStyle/>
          <a:p>
            <a:pPr algn="l" indent="0" marL="0">
              <a:lnSpc>
                <a:spcPts val="1880"/>
              </a:lnSpc>
              <a:buNone/>
            </a:pPr>
            <a:r>
              <a:rPr lang="en-US" sz="1250" b="1" dirty="0">
                <a:solidFill>
                  <a:srgbClr val="111318"/>
                </a:solidFill>
                <a:latin typeface="Libre Franklin" pitchFamily="34" charset="0"/>
                <a:ea typeface="Libre Franklin" pitchFamily="34" charset="-122"/>
                <a:cs typeface="Libre Franklin" pitchFamily="34" charset="-120"/>
              </a:rPr>
              <a:t>Map</a:t>
            </a:r>
            <a:endParaRPr lang="en-US" sz="1250" dirty="0"/>
          </a:p>
        </p:txBody>
      </p:sp>
      <p:sp>
        <p:nvSpPr>
          <p:cNvPr id="10" name="Text 6"/>
          <p:cNvSpPr/>
          <p:nvPr/>
        </p:nvSpPr>
        <p:spPr>
          <a:xfrm>
            <a:off x="4416981" y="2844552"/>
            <a:ext cx="1564660" cy="2196703"/>
          </a:xfrm>
          <a:prstGeom prst="rect">
            <a:avLst/>
          </a:prstGeom>
          <a:noFill/>
          <a:ln/>
        </p:spPr>
        <p:txBody>
          <a:bodyPr wrap="square" lIns="0" tIns="0" rIns="0" bIns="0" rtlCol="0" anchor="t"/>
          <a:lstStyle/>
          <a:p>
            <a:pPr algn="l" indent="0" marL="0">
              <a:lnSpc>
                <a:spcPts val="1730"/>
              </a:lnSpc>
              <a:buNone/>
            </a:pPr>
            <a:r>
              <a:rPr lang="en-US" sz="1150" dirty="0">
                <a:solidFill>
                  <a:srgbClr val="5B6270"/>
                </a:solidFill>
                <a:latin typeface="Libre Franklin" pitchFamily="34" charset="0"/>
                <a:ea typeface="Libre Franklin" pitchFamily="34" charset="-122"/>
                <a:cs typeface="Libre Franklin" pitchFamily="34" charset="-120"/>
              </a:rPr>
              <a:t>The tier and the linked risks resolve the control set through the graph. Each control is itemised, carrying its scope, its recurrence, the evidence it requires and its links, all readable over the API.</a:t>
            </a:r>
            <a:endParaRPr lang="en-US" sz="1150" dirty="0"/>
          </a:p>
        </p:txBody>
      </p:sp>
      <p:sp>
        <p:nvSpPr>
          <p:cNvPr id="11" name="Text 7"/>
          <p:cNvSpPr/>
          <p:nvPr/>
        </p:nvSpPr>
        <p:spPr>
          <a:xfrm>
            <a:off x="6210211" y="2557909"/>
            <a:ext cx="1564660" cy="238869"/>
          </a:xfrm>
          <a:prstGeom prst="rect">
            <a:avLst/>
          </a:prstGeom>
          <a:noFill/>
          <a:ln/>
        </p:spPr>
        <p:txBody>
          <a:bodyPr wrap="square" lIns="0" tIns="0" rIns="0" bIns="0" rtlCol="0" anchor="t"/>
          <a:lstStyle/>
          <a:p>
            <a:pPr algn="l" indent="0" marL="0">
              <a:lnSpc>
                <a:spcPts val="1880"/>
              </a:lnSpc>
              <a:buNone/>
            </a:pPr>
            <a:r>
              <a:rPr lang="en-US" sz="1250" b="1" dirty="0">
                <a:solidFill>
                  <a:srgbClr val="111318"/>
                </a:solidFill>
                <a:latin typeface="Libre Franklin" pitchFamily="34" charset="0"/>
                <a:ea typeface="Libre Franklin" pitchFamily="34" charset="-122"/>
                <a:cs typeface="Libre Franklin" pitchFamily="34" charset="-120"/>
              </a:rPr>
              <a:t>Assign</a:t>
            </a:r>
            <a:endParaRPr lang="en-US" sz="1250" dirty="0"/>
          </a:p>
        </p:txBody>
      </p:sp>
      <p:sp>
        <p:nvSpPr>
          <p:cNvPr id="12" name="Text 8"/>
          <p:cNvSpPr/>
          <p:nvPr/>
        </p:nvSpPr>
        <p:spPr>
          <a:xfrm>
            <a:off x="6210211" y="2844552"/>
            <a:ext cx="1564660" cy="1537692"/>
          </a:xfrm>
          <a:prstGeom prst="rect">
            <a:avLst/>
          </a:prstGeom>
          <a:noFill/>
          <a:ln/>
        </p:spPr>
        <p:txBody>
          <a:bodyPr wrap="square" lIns="0" tIns="0" rIns="0" bIns="0" rtlCol="0" anchor="t"/>
          <a:lstStyle/>
          <a:p>
            <a:pPr algn="l" indent="0" marL="0">
              <a:lnSpc>
                <a:spcPts val="1730"/>
              </a:lnSpc>
              <a:buNone/>
            </a:pPr>
            <a:r>
              <a:rPr lang="en-US" sz="1150" dirty="0">
                <a:solidFill>
                  <a:srgbClr val="5B6270"/>
                </a:solidFill>
                <a:latin typeface="Libre Franklin" pitchFamily="34" charset="0"/>
                <a:ea typeface="Libre Franklin" pitchFamily="34" charset="-122"/>
                <a:cs typeface="Libre Franklin" pitchFamily="34" charset="-120"/>
              </a:rPr>
              <a:t>Each control gets an owner and a due date. Lifecycle stages gate on approval, and a review goes to a named reviewer, internal or external.</a:t>
            </a:r>
            <a:endParaRPr lang="en-US" sz="1150" dirty="0"/>
          </a:p>
        </p:txBody>
      </p:sp>
      <p:sp>
        <p:nvSpPr>
          <p:cNvPr id="13" name="Text 9"/>
          <p:cNvSpPr/>
          <p:nvPr/>
        </p:nvSpPr>
        <p:spPr>
          <a:xfrm>
            <a:off x="8003441" y="2557909"/>
            <a:ext cx="1564660" cy="238869"/>
          </a:xfrm>
          <a:prstGeom prst="rect">
            <a:avLst/>
          </a:prstGeom>
          <a:noFill/>
          <a:ln/>
        </p:spPr>
        <p:txBody>
          <a:bodyPr wrap="square" lIns="0" tIns="0" rIns="0" bIns="0" rtlCol="0" anchor="t"/>
          <a:lstStyle/>
          <a:p>
            <a:pPr algn="l" indent="0" marL="0">
              <a:lnSpc>
                <a:spcPts val="1880"/>
              </a:lnSpc>
              <a:buNone/>
            </a:pPr>
            <a:r>
              <a:rPr lang="en-US" sz="1250" b="1" dirty="0">
                <a:solidFill>
                  <a:srgbClr val="111318"/>
                </a:solidFill>
                <a:latin typeface="Libre Franklin" pitchFamily="34" charset="0"/>
                <a:ea typeface="Libre Franklin" pitchFamily="34" charset="-122"/>
                <a:cs typeface="Libre Franklin" pitchFamily="34" charset="-120"/>
              </a:rPr>
              <a:t>Evidence</a:t>
            </a:r>
            <a:endParaRPr lang="en-US" sz="1250" dirty="0"/>
          </a:p>
        </p:txBody>
      </p:sp>
      <p:sp>
        <p:nvSpPr>
          <p:cNvPr id="14" name="Text 10"/>
          <p:cNvSpPr/>
          <p:nvPr/>
        </p:nvSpPr>
        <p:spPr>
          <a:xfrm>
            <a:off x="8003441" y="2844552"/>
            <a:ext cx="1564660" cy="1537692"/>
          </a:xfrm>
          <a:prstGeom prst="rect">
            <a:avLst/>
          </a:prstGeom>
          <a:noFill/>
          <a:ln/>
        </p:spPr>
        <p:txBody>
          <a:bodyPr wrap="square" lIns="0" tIns="0" rIns="0" bIns="0" rtlCol="0" anchor="t"/>
          <a:lstStyle/>
          <a:p>
            <a:pPr algn="l" indent="0" marL="0">
              <a:lnSpc>
                <a:spcPts val="1730"/>
              </a:lnSpc>
              <a:buNone/>
            </a:pPr>
            <a:r>
              <a:rPr lang="en-US" sz="1150" dirty="0">
                <a:solidFill>
                  <a:srgbClr val="5B6270"/>
                </a:solidFill>
                <a:latin typeface="Libre Franklin" pitchFamily="34" charset="0"/>
                <a:ea typeface="Libre Franklin" pitchFamily="34" charset="-122"/>
                <a:cs typeface="Libre Franklin" pitchFamily="34" charset="-120"/>
              </a:rPr>
              <a:t>Observability events come back from the runtime and attach to the control. An event can open an incident, a review or a reclassification.</a:t>
            </a:r>
            <a:endParaRPr lang="en-US" sz="1150" dirty="0"/>
          </a:p>
        </p:txBody>
      </p:sp>
      <p:sp>
        <p:nvSpPr>
          <p:cNvPr id="15" name="Text 11"/>
          <p:cNvSpPr/>
          <p:nvPr/>
        </p:nvSpPr>
        <p:spPr>
          <a:xfrm>
            <a:off x="9796671" y="2557909"/>
            <a:ext cx="1564809" cy="238869"/>
          </a:xfrm>
          <a:prstGeom prst="rect">
            <a:avLst/>
          </a:prstGeom>
          <a:noFill/>
          <a:ln/>
        </p:spPr>
        <p:txBody>
          <a:bodyPr wrap="square" lIns="0" tIns="0" rIns="0" bIns="0" rtlCol="0" anchor="t"/>
          <a:lstStyle/>
          <a:p>
            <a:pPr algn="l" indent="0" marL="0">
              <a:lnSpc>
                <a:spcPts val="1880"/>
              </a:lnSpc>
              <a:buNone/>
            </a:pPr>
            <a:r>
              <a:rPr lang="en-US" sz="1250" b="1" dirty="0">
                <a:solidFill>
                  <a:srgbClr val="111318"/>
                </a:solidFill>
                <a:latin typeface="Libre Franklin" pitchFamily="34" charset="0"/>
                <a:ea typeface="Libre Franklin" pitchFamily="34" charset="-122"/>
                <a:cs typeface="Libre Franklin" pitchFamily="34" charset="-120"/>
              </a:rPr>
              <a:t>Report</a:t>
            </a:r>
            <a:endParaRPr lang="en-US" sz="1250" dirty="0"/>
          </a:p>
        </p:txBody>
      </p:sp>
      <p:sp>
        <p:nvSpPr>
          <p:cNvPr id="16" name="Text 12"/>
          <p:cNvSpPr/>
          <p:nvPr/>
        </p:nvSpPr>
        <p:spPr>
          <a:xfrm>
            <a:off x="9796671" y="2844552"/>
            <a:ext cx="1564809" cy="1318022"/>
          </a:xfrm>
          <a:prstGeom prst="rect">
            <a:avLst/>
          </a:prstGeom>
          <a:noFill/>
          <a:ln/>
        </p:spPr>
        <p:txBody>
          <a:bodyPr wrap="square" lIns="0" tIns="0" rIns="0" bIns="0" rtlCol="0" anchor="t"/>
          <a:lstStyle/>
          <a:p>
            <a:pPr algn="l" indent="0" marL="0">
              <a:lnSpc>
                <a:spcPts val="1730"/>
              </a:lnSpc>
              <a:buNone/>
            </a:pPr>
            <a:r>
              <a:rPr lang="en-US" sz="1150" dirty="0">
                <a:solidFill>
                  <a:srgbClr val="5B6270"/>
                </a:solidFill>
                <a:latin typeface="Libre Franklin" pitchFamily="34" charset="0"/>
                <a:ea typeface="Libre Franklin" pitchFamily="34" charset="-122"/>
                <a:cs typeface="Libre Franklin" pitchFamily="34" charset="-120"/>
              </a:rPr>
              <a:t>Reviews and transparency reports are generated from the record, current on the day they are asked for.</a:t>
            </a:r>
            <a:endParaRPr lang="en-US" sz="1150" dirty="0"/>
          </a:p>
        </p:txBody>
      </p:sp>
      <p:sp>
        <p:nvSpPr>
          <p:cNvPr id="17" name="Text 13"/>
          <p:cNvSpPr/>
          <p:nvPr/>
        </p:nvSpPr>
        <p:spPr>
          <a:xfrm>
            <a:off x="830520" y="5315545"/>
            <a:ext cx="10530959" cy="198239"/>
          </a:xfrm>
          <a:prstGeom prst="rect">
            <a:avLst/>
          </a:prstGeom>
          <a:noFill/>
          <a:ln/>
        </p:spPr>
        <p:txBody>
          <a:bodyPr wrap="square" lIns="0" tIns="0" rIns="0" bIns="0" rtlCol="0" anchor="t"/>
          <a:lstStyle/>
          <a:p>
            <a:pPr algn="l" indent="0" marL="0">
              <a:lnSpc>
                <a:spcPts val="1560"/>
              </a:lnSpc>
              <a:buNone/>
            </a:pPr>
            <a:r>
              <a:rPr lang="en-US" sz="1040" dirty="0">
                <a:solidFill>
                  <a:srgbClr val="5B6270"/>
                </a:solidFill>
                <a:latin typeface="Libre Franklin" pitchFamily="34" charset="0"/>
                <a:ea typeface="Libre Franklin" pitchFamily="34" charset="-122"/>
                <a:cs typeface="Libre Franklin" pitchFamily="34" charset="-120"/>
              </a:rPr>
              <a:t>Registering, classifying and mapping run through the MCP servers as well, so a client's own agents can operate the loop.</a:t>
            </a:r>
            <a:endParaRPr lang="en-US" sz="1040" dirty="0"/>
          </a:p>
        </p:txBody>
      </p:sp>
      <p:sp>
        <p:nvSpPr>
          <p:cNvPr id="18" name="Text 14"/>
          <p:cNvSpPr/>
          <p:nvPr/>
        </p:nvSpPr>
        <p:spPr>
          <a:xfrm>
            <a:off x="220920" y="6530429"/>
            <a:ext cx="114627" cy="114300"/>
          </a:xfrm>
          <a:prstGeom prst="rect">
            <a:avLst/>
          </a:prstGeom>
          <a:noFill/>
          <a:ln/>
        </p:spPr>
        <p:txBody>
          <a:bodyPr wrap="square" lIns="0" tIns="0" rIns="0" bIns="0" rtlCol="0" anchor="t"/>
          <a:lstStyle/>
          <a:p>
            <a:pPr algn="l" indent="0" marL="0">
              <a:lnSpc>
                <a:spcPts val="900"/>
              </a:lnSpc>
              <a:buNone/>
            </a:pPr>
            <a:r>
              <a:rPr lang="en-US" sz="900" dirty="0">
                <a:solidFill>
                  <a:srgbClr val="949597"/>
                </a:solidFill>
                <a:latin typeface="SF Mono" pitchFamily="34" charset="0"/>
                <a:ea typeface="SF Mono" pitchFamily="34" charset="-122"/>
                <a:cs typeface="SF Mono"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r>
          <p:cNvPicPr>
            <a:picLocks noChangeAspect="1"/>
          </p:cNvPicPr>
          <p:nvPr/>
        </p:nvPicPr>
        <p:blipFill>
          <a:blip r:embed="rId2"/>
          <a:stretch>
            <a:fillRect/>
          </a:stretch>
        </p:blipFill>
        <p:spPr>
          <a:xfrm>
            <a:off x="10942415" y="6363421"/>
            <a:ext cx="914400" cy="234892"/>
          </a:xfrm>
          <a:prstGeom prst="rect">
            <a:avLst/>
          </a:prstGeom>
        </p:spPr>
      </p:pic>
      <p:sp>
        <p:nvSpPr>
          <p:cNvPr id="4" name="Text 0"/>
          <p:cNvSpPr/>
          <p:nvPr/>
        </p:nvSpPr>
        <p:spPr>
          <a:xfrm>
            <a:off x="830520" y="1088975"/>
            <a:ext cx="10530959" cy="495598"/>
          </a:xfrm>
          <a:prstGeom prst="rect">
            <a:avLst/>
          </a:prstGeom>
          <a:noFill/>
          <a:ln/>
        </p:spPr>
        <p:txBody>
          <a:bodyPr wrap="square" lIns="0" tIns="0" rIns="0" bIns="0" rtlCol="0" anchor="t"/>
          <a:lstStyle/>
          <a:p>
            <a:pPr algn="l" indent="0" marL="0">
              <a:lnSpc>
                <a:spcPts val="3900"/>
              </a:lnSpc>
              <a:buNone/>
            </a:pPr>
            <a:r>
              <a:rPr lang="en-US" sz="3550" dirty="0">
                <a:solidFill>
                  <a:srgbClr val="111318"/>
                </a:solidFill>
                <a:latin typeface="Libre Franklin" pitchFamily="34" charset="0"/>
                <a:ea typeface="Libre Franklin" pitchFamily="34" charset="-122"/>
                <a:cs typeface="Libre Franklin" pitchFamily="34" charset="-120"/>
              </a:rPr>
              <a:t>Your governance model, configured</a:t>
            </a:r>
            <a:endParaRPr lang="en-US" sz="3550" dirty="0"/>
          </a:p>
        </p:txBody>
      </p:sp>
      <p:sp>
        <p:nvSpPr>
          <p:cNvPr id="5" name="Text 1"/>
          <p:cNvSpPr/>
          <p:nvPr/>
        </p:nvSpPr>
        <p:spPr>
          <a:xfrm>
            <a:off x="830520" y="2095351"/>
            <a:ext cx="391894" cy="289620"/>
          </a:xfrm>
          <a:prstGeom prst="rect">
            <a:avLst/>
          </a:prstGeom>
          <a:noFill/>
          <a:ln/>
        </p:spPr>
        <p:txBody>
          <a:bodyPr wrap="square" lIns="0" tIns="0" rIns="0" bIns="0" rtlCol="0" anchor="t"/>
          <a:lstStyle/>
          <a:p>
            <a:pPr algn="l" indent="0" marL="0">
              <a:lnSpc>
                <a:spcPts val="2280"/>
              </a:lnSpc>
              <a:buNone/>
            </a:pPr>
            <a:r>
              <a:rPr lang="en-US" sz="2280" b="1" dirty="0">
                <a:solidFill>
                  <a:srgbClr val="3653E0"/>
                </a:solidFill>
                <a:latin typeface="Libre Franklin" pitchFamily="34" charset="0"/>
                <a:ea typeface="Libre Franklin" pitchFamily="34" charset="-122"/>
                <a:cs typeface="Libre Franklin" pitchFamily="34" charset="-120"/>
              </a:rPr>
              <a:t>01</a:t>
            </a:r>
            <a:endParaRPr lang="en-US" sz="2280" dirty="0"/>
          </a:p>
        </p:txBody>
      </p:sp>
      <p:sp>
        <p:nvSpPr>
          <p:cNvPr id="6" name="Text 2"/>
          <p:cNvSpPr/>
          <p:nvPr/>
        </p:nvSpPr>
        <p:spPr>
          <a:xfrm>
            <a:off x="1393835" y="2152501"/>
            <a:ext cx="2157889" cy="271463"/>
          </a:xfrm>
          <a:prstGeom prst="rect">
            <a:avLst/>
          </a:prstGeom>
          <a:noFill/>
          <a:ln/>
        </p:spPr>
        <p:txBody>
          <a:bodyPr wrap="square" lIns="0" tIns="0" rIns="0" bIns="0" rtlCol="0" anchor="t"/>
          <a:lstStyle/>
          <a:p>
            <a:pPr algn="l" indent="0" marL="0">
              <a:lnSpc>
                <a:spcPts val="2140"/>
              </a:lnSpc>
              <a:buNone/>
            </a:pPr>
            <a:r>
              <a:rPr lang="en-US" sz="1430" b="1" dirty="0">
                <a:solidFill>
                  <a:srgbClr val="111318"/>
                </a:solidFill>
                <a:latin typeface="Libre Franklin" pitchFamily="34" charset="0"/>
                <a:ea typeface="Libre Franklin" pitchFamily="34" charset="-122"/>
                <a:cs typeface="Libre Franklin" pitchFamily="34" charset="-120"/>
              </a:rPr>
              <a:t>Your controls, as entities</a:t>
            </a:r>
            <a:endParaRPr lang="en-US" sz="1430" dirty="0"/>
          </a:p>
        </p:txBody>
      </p:sp>
      <p:sp>
        <p:nvSpPr>
          <p:cNvPr id="7" name="Text 3"/>
          <p:cNvSpPr/>
          <p:nvPr/>
        </p:nvSpPr>
        <p:spPr>
          <a:xfrm>
            <a:off x="1393835" y="2423964"/>
            <a:ext cx="9967645" cy="814388"/>
          </a:xfrm>
          <a:prstGeom prst="rect">
            <a:avLst/>
          </a:prstGeom>
          <a:noFill/>
          <a:ln/>
        </p:spPr>
        <p:txBody>
          <a:bodyPr wrap="square" lIns="0" tIns="0" rIns="0" bIns="0" rtlCol="0" anchor="t"/>
          <a:lstStyle/>
          <a:p>
            <a:pPr algn="l" indent="0" marL="0">
              <a:lnSpc>
                <a:spcPts val="2140"/>
              </a:lnSpc>
              <a:buNone/>
            </a:pPr>
            <a:r>
              <a:rPr lang="en-US" sz="1430" dirty="0">
                <a:solidFill>
                  <a:srgbClr val="5B6270"/>
                </a:solidFill>
                <a:latin typeface="Libre Franklin" pitchFamily="34" charset="0"/>
                <a:ea typeface="Libre Franklin" pitchFamily="34" charset="-122"/>
                <a:cs typeface="Libre Franklin" pitchFamily="34" charset="-120"/>
              </a:rPr>
              <a:t>Your own controls sit in the graph beside the </a:t>
            </a:r>
            <a:pPr algn="l" indent="0" marL="0">
              <a:lnSpc>
                <a:spcPts val="2140"/>
              </a:lnSpc>
              <a:buNone/>
            </a:pPr>
            <a:r>
              <a:rPr lang="en-US" sz="1430" b="1" dirty="0">
                <a:solidFill>
                  <a:srgbClr val="5B6270"/>
                </a:solidFill>
                <a:latin typeface="Libre Franklin" pitchFamily="34" charset="0"/>
                <a:ea typeface="Libre Franklin" pitchFamily="34" charset="-122"/>
                <a:cs typeface="Libre Franklin" pitchFamily="34" charset="-120"/>
              </a:rPr>
              <a:t>110+</a:t>
            </a:r>
            <a:pPr algn="l" indent="0" marL="0">
              <a:lnSpc>
                <a:spcPts val="2140"/>
              </a:lnSpc>
              <a:buNone/>
            </a:pPr>
            <a:r>
              <a:rPr lang="en-US" sz="1430" dirty="0">
                <a:solidFill>
                  <a:srgbClr val="5B6270"/>
                </a:solidFill>
                <a:latin typeface="Libre Franklin" pitchFamily="34" charset="0"/>
                <a:ea typeface="Libre Franklin" pitchFamily="34" charset="-122"/>
                <a:cs typeface="Libre Franklin" pitchFamily="34" charset="-120"/>
              </a:rPr>
              <a:t> policies in the library, linked to systems, risks and evidence like anything else.</a:t>
            </a:r>
            <a:pPr algn="l" indent="0" marL="0">
              <a:lnSpc>
                <a:spcPts val="2140"/>
              </a:lnSpc>
              <a:buNone/>
            </a:pPr>
            <a:r>
              <a:rPr lang="en-US" sz="1430" dirty="0">
                <a:solidFill>
                  <a:srgbClr val="5B6270"/>
                </a:solidFill>
                <a:latin typeface="Libre Franklin" pitchFamily="34" charset="0"/>
                <a:ea typeface="Libre Franklin" pitchFamily="34" charset="-122"/>
                <a:cs typeface="Libre Franklin" pitchFamily="34" charset="-120"/>
              </a:rPr>
              <a:t> Not documents attached to a record. Authoring your own policy frameworks is in preview.</a:t>
            </a:r>
            <a:endParaRPr lang="en-US" sz="1430" dirty="0"/>
          </a:p>
        </p:txBody>
      </p:sp>
      <p:sp>
        <p:nvSpPr>
          <p:cNvPr id="8" name="Text 4"/>
          <p:cNvSpPr/>
          <p:nvPr/>
        </p:nvSpPr>
        <p:spPr>
          <a:xfrm>
            <a:off x="830520" y="3446711"/>
            <a:ext cx="430887" cy="289620"/>
          </a:xfrm>
          <a:prstGeom prst="rect">
            <a:avLst/>
          </a:prstGeom>
          <a:noFill/>
          <a:ln/>
        </p:spPr>
        <p:txBody>
          <a:bodyPr wrap="square" lIns="0" tIns="0" rIns="0" bIns="0" rtlCol="0" anchor="t"/>
          <a:lstStyle/>
          <a:p>
            <a:pPr algn="l" indent="0" marL="0">
              <a:lnSpc>
                <a:spcPts val="2280"/>
              </a:lnSpc>
              <a:buNone/>
            </a:pPr>
            <a:r>
              <a:rPr lang="en-US" sz="2280" b="1" dirty="0">
                <a:solidFill>
                  <a:srgbClr val="3653E0"/>
                </a:solidFill>
                <a:latin typeface="Libre Franklin" pitchFamily="34" charset="0"/>
                <a:ea typeface="Libre Franklin" pitchFamily="34" charset="-122"/>
                <a:cs typeface="Libre Franklin" pitchFamily="34" charset="-120"/>
              </a:rPr>
              <a:t>02</a:t>
            </a:r>
            <a:endParaRPr lang="en-US" sz="2280" dirty="0"/>
          </a:p>
        </p:txBody>
      </p:sp>
      <p:sp>
        <p:nvSpPr>
          <p:cNvPr id="9" name="Text 5"/>
          <p:cNvSpPr/>
          <p:nvPr/>
        </p:nvSpPr>
        <p:spPr>
          <a:xfrm>
            <a:off x="1432828" y="3503861"/>
            <a:ext cx="2765852" cy="271463"/>
          </a:xfrm>
          <a:prstGeom prst="rect">
            <a:avLst/>
          </a:prstGeom>
          <a:noFill/>
          <a:ln/>
        </p:spPr>
        <p:txBody>
          <a:bodyPr wrap="square" lIns="0" tIns="0" rIns="0" bIns="0" rtlCol="0" anchor="t"/>
          <a:lstStyle/>
          <a:p>
            <a:pPr algn="l" indent="0" marL="0">
              <a:lnSpc>
                <a:spcPts val="2140"/>
              </a:lnSpc>
              <a:buNone/>
            </a:pPr>
            <a:r>
              <a:rPr lang="en-US" sz="1430" b="1" dirty="0">
                <a:solidFill>
                  <a:srgbClr val="111318"/>
                </a:solidFill>
                <a:latin typeface="Libre Franklin" pitchFamily="34" charset="0"/>
                <a:ea typeface="Libre Franklin" pitchFamily="34" charset="-122"/>
                <a:cs typeface="Libre Franklin" pitchFamily="34" charset="-120"/>
              </a:rPr>
              <a:t>Your process, as roles and tasks</a:t>
            </a:r>
            <a:endParaRPr lang="en-US" sz="1430" dirty="0"/>
          </a:p>
        </p:txBody>
      </p:sp>
      <p:sp>
        <p:nvSpPr>
          <p:cNvPr id="10" name="Text 6"/>
          <p:cNvSpPr/>
          <p:nvPr/>
        </p:nvSpPr>
        <p:spPr>
          <a:xfrm>
            <a:off x="1432828" y="3775323"/>
            <a:ext cx="7525970" cy="814388"/>
          </a:xfrm>
          <a:prstGeom prst="rect">
            <a:avLst/>
          </a:prstGeom>
          <a:noFill/>
          <a:ln/>
        </p:spPr>
        <p:txBody>
          <a:bodyPr wrap="square" lIns="0" tIns="0" rIns="0" bIns="0" rtlCol="0" anchor="t"/>
          <a:lstStyle/>
          <a:p>
            <a:pPr algn="l" indent="0" marL="0">
              <a:lnSpc>
                <a:spcPts val="2140"/>
              </a:lnSpc>
              <a:buNone/>
            </a:pPr>
            <a:r>
              <a:rPr lang="en-US" sz="1430" dirty="0">
                <a:solidFill>
                  <a:srgbClr val="5B6270"/>
                </a:solidFill>
                <a:latin typeface="Libre Franklin" pitchFamily="34" charset="0"/>
                <a:ea typeface="Libre Franklin" pitchFamily="34" charset="-122"/>
                <a:cs typeface="Libre Franklin" pitchFamily="34" charset="-120"/>
              </a:rPr>
              <a:t>Roles are assigned per system: owner, compliance specialist, reviewer, oversight manager.</a:t>
            </a:r>
            <a:pPr algn="l" indent="0" marL="0">
              <a:lnSpc>
                <a:spcPts val="2140"/>
              </a:lnSpc>
              <a:buNone/>
            </a:pPr>
            <a:r>
              <a:rPr lang="en-US" sz="1430" dirty="0">
                <a:solidFill>
                  <a:srgbClr val="5B6270"/>
                </a:solidFill>
                <a:latin typeface="Libre Franklin" pitchFamily="34" charset="0"/>
                <a:ea typeface="Libre Franklin" pitchFamily="34" charset="-122"/>
                <a:cs typeface="Libre Franklin" pitchFamily="34" charset="-120"/>
              </a:rPr>
              <a:t> Lifecycle stages, approval gates and review cadence are set per organisation.</a:t>
            </a:r>
            <a:pPr algn="l" indent="0" marL="0">
              <a:lnSpc>
                <a:spcPts val="2140"/>
              </a:lnSpc>
              <a:buNone/>
            </a:pPr>
            <a:r>
              <a:rPr lang="en-US" sz="1430" dirty="0">
                <a:solidFill>
                  <a:srgbClr val="5B6270"/>
                </a:solidFill>
                <a:latin typeface="Libre Franklin" pitchFamily="34" charset="0"/>
                <a:ea typeface="Libre Franklin" pitchFamily="34" charset="-122"/>
                <a:cs typeface="Libre Franklin" pitchFamily="34" charset="-120"/>
              </a:rPr>
              <a:t> Modelling the wider process as tasks is in development.</a:t>
            </a:r>
            <a:endParaRPr lang="en-US" sz="1430" dirty="0"/>
          </a:p>
        </p:txBody>
      </p:sp>
      <p:sp>
        <p:nvSpPr>
          <p:cNvPr id="11" name="Text 7"/>
          <p:cNvSpPr/>
          <p:nvPr/>
        </p:nvSpPr>
        <p:spPr>
          <a:xfrm>
            <a:off x="830520" y="4798070"/>
            <a:ext cx="439519" cy="289620"/>
          </a:xfrm>
          <a:prstGeom prst="rect">
            <a:avLst/>
          </a:prstGeom>
          <a:noFill/>
          <a:ln/>
        </p:spPr>
        <p:txBody>
          <a:bodyPr wrap="square" lIns="0" tIns="0" rIns="0" bIns="0" rtlCol="0" anchor="t"/>
          <a:lstStyle/>
          <a:p>
            <a:pPr algn="l" indent="0" marL="0">
              <a:lnSpc>
                <a:spcPts val="2280"/>
              </a:lnSpc>
              <a:buNone/>
            </a:pPr>
            <a:r>
              <a:rPr lang="en-US" sz="2280" b="1" dirty="0">
                <a:solidFill>
                  <a:srgbClr val="3653E0"/>
                </a:solidFill>
                <a:latin typeface="Libre Franklin" pitchFamily="34" charset="0"/>
                <a:ea typeface="Libre Franklin" pitchFamily="34" charset="-122"/>
                <a:cs typeface="Libre Franklin" pitchFamily="34" charset="-120"/>
              </a:rPr>
              <a:t>03</a:t>
            </a:r>
            <a:endParaRPr lang="en-US" sz="2280" dirty="0"/>
          </a:p>
        </p:txBody>
      </p:sp>
      <p:sp>
        <p:nvSpPr>
          <p:cNvPr id="12" name="Text 8"/>
          <p:cNvSpPr/>
          <p:nvPr/>
        </p:nvSpPr>
        <p:spPr>
          <a:xfrm>
            <a:off x="1441460" y="4855220"/>
            <a:ext cx="2600355" cy="271463"/>
          </a:xfrm>
          <a:prstGeom prst="rect">
            <a:avLst/>
          </a:prstGeom>
          <a:noFill/>
          <a:ln/>
        </p:spPr>
        <p:txBody>
          <a:bodyPr wrap="square" lIns="0" tIns="0" rIns="0" bIns="0" rtlCol="0" anchor="t"/>
          <a:lstStyle/>
          <a:p>
            <a:pPr algn="l" indent="0" marL="0">
              <a:lnSpc>
                <a:spcPts val="2140"/>
              </a:lnSpc>
              <a:buNone/>
            </a:pPr>
            <a:r>
              <a:rPr lang="en-US" sz="1430" b="1" dirty="0">
                <a:solidFill>
                  <a:srgbClr val="111318"/>
                </a:solidFill>
                <a:latin typeface="Libre Franklin" pitchFamily="34" charset="0"/>
                <a:ea typeface="Libre Franklin" pitchFamily="34" charset="-122"/>
                <a:cs typeface="Libre Franklin" pitchFamily="34" charset="-120"/>
              </a:rPr>
              <a:t>Your automation, at your pace</a:t>
            </a:r>
            <a:endParaRPr lang="en-US" sz="1430" dirty="0"/>
          </a:p>
        </p:txBody>
      </p:sp>
      <p:sp>
        <p:nvSpPr>
          <p:cNvPr id="13" name="Text 9"/>
          <p:cNvSpPr/>
          <p:nvPr/>
        </p:nvSpPr>
        <p:spPr>
          <a:xfrm>
            <a:off x="1441460" y="5126682"/>
            <a:ext cx="8756184" cy="542925"/>
          </a:xfrm>
          <a:prstGeom prst="rect">
            <a:avLst/>
          </a:prstGeom>
          <a:noFill/>
          <a:ln/>
        </p:spPr>
        <p:txBody>
          <a:bodyPr wrap="square" lIns="0" tIns="0" rIns="0" bIns="0" rtlCol="0" anchor="t"/>
          <a:lstStyle/>
          <a:p>
            <a:pPr algn="l" indent="0" marL="0">
              <a:lnSpc>
                <a:spcPts val="2140"/>
              </a:lnSpc>
              <a:buNone/>
            </a:pPr>
            <a:r>
              <a:rPr lang="en-US" sz="1430" dirty="0">
                <a:solidFill>
                  <a:srgbClr val="5B6270"/>
                </a:solidFill>
                <a:latin typeface="Libre Franklin" pitchFamily="34" charset="0"/>
                <a:ea typeface="Libre Franklin" pitchFamily="34" charset="-122"/>
                <a:cs typeface="Libre Franklin" pitchFamily="34" charset="-120"/>
              </a:rPr>
              <a:t>Every rule is a workflow you switch on: classification, inheritance, control assignment, lifecycle approvals.</a:t>
            </a:r>
            <a:pPr algn="l" indent="0" marL="0">
              <a:lnSpc>
                <a:spcPts val="2140"/>
              </a:lnSpc>
              <a:buNone/>
            </a:pPr>
            <a:r>
              <a:rPr lang="en-US" sz="1430" dirty="0">
                <a:solidFill>
                  <a:srgbClr val="5B6270"/>
                </a:solidFill>
                <a:latin typeface="Libre Franklin" pitchFamily="34" charset="0"/>
                <a:ea typeface="Libre Franklin" pitchFamily="34" charset="-122"/>
                <a:cs typeface="Libre Franklin" pitchFamily="34" charset="-120"/>
              </a:rPr>
              <a:t> What is not automated stays a task for a person.</a:t>
            </a:r>
            <a:endParaRPr lang="en-US" sz="1430" dirty="0"/>
          </a:p>
        </p:txBody>
      </p:sp>
      <p:sp>
        <p:nvSpPr>
          <p:cNvPr id="14" name="Text 10"/>
          <p:cNvSpPr/>
          <p:nvPr/>
        </p:nvSpPr>
        <p:spPr>
          <a:xfrm>
            <a:off x="220920" y="6530429"/>
            <a:ext cx="114627" cy="114300"/>
          </a:xfrm>
          <a:prstGeom prst="rect">
            <a:avLst/>
          </a:prstGeom>
          <a:noFill/>
          <a:ln/>
        </p:spPr>
        <p:txBody>
          <a:bodyPr wrap="square" lIns="0" tIns="0" rIns="0" bIns="0" rtlCol="0" anchor="t"/>
          <a:lstStyle/>
          <a:p>
            <a:pPr algn="l" indent="0" marL="0">
              <a:lnSpc>
                <a:spcPts val="900"/>
              </a:lnSpc>
              <a:buNone/>
            </a:pPr>
            <a:r>
              <a:rPr lang="en-US" sz="900" dirty="0">
                <a:solidFill>
                  <a:srgbClr val="7F8796"/>
                </a:solidFill>
                <a:latin typeface="SF Mono" pitchFamily="34" charset="0"/>
                <a:ea typeface="SF Mono" pitchFamily="34" charset="-122"/>
                <a:cs typeface="SF Mono"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preencoded.png">    </p:cNvPr>
          <p:cNvPicPr>
            <a:picLocks noChangeAspect="1"/>
          </p:cNvPicPr>
          <p:nvPr/>
        </p:nvPicPr>
        <p:blipFill>
          <a:blip r:embed="rId2"/>
          <a:stretch>
            <a:fillRect/>
          </a:stretch>
        </p:blipFill>
        <p:spPr>
          <a:xfrm>
            <a:off x="10942415" y="6363421"/>
            <a:ext cx="914400" cy="234892"/>
          </a:xfrm>
          <a:prstGeom prst="rect">
            <a:avLst/>
          </a:prstGeom>
        </p:spPr>
      </p:pic>
      <p:sp>
        <p:nvSpPr>
          <p:cNvPr id="4" name="Text 0"/>
          <p:cNvSpPr/>
          <p:nvPr/>
        </p:nvSpPr>
        <p:spPr>
          <a:xfrm>
            <a:off x="830520" y="1879699"/>
            <a:ext cx="10530959" cy="495598"/>
          </a:xfrm>
          <a:prstGeom prst="rect">
            <a:avLst/>
          </a:prstGeom>
          <a:noFill/>
          <a:ln/>
        </p:spPr>
        <p:txBody>
          <a:bodyPr wrap="square" lIns="0" tIns="0" rIns="0" bIns="0" rtlCol="0" anchor="t"/>
          <a:lstStyle/>
          <a:p>
            <a:pPr algn="l" indent="0" marL="0">
              <a:lnSpc>
                <a:spcPts val="3900"/>
              </a:lnSpc>
              <a:buNone/>
            </a:pPr>
            <a:r>
              <a:rPr lang="en-US" sz="3550" dirty="0">
                <a:solidFill>
                  <a:srgbClr val="FFFFFF"/>
                </a:solidFill>
                <a:latin typeface="Libre Franklin" pitchFamily="34" charset="0"/>
                <a:ea typeface="Libre Franklin" pitchFamily="34" charset="-122"/>
                <a:cs typeface="Libre Franklin" pitchFamily="34" charset="-120"/>
              </a:rPr>
              <a:t>Governance stays a gate. It stops being a queue.</a:t>
            </a:r>
            <a:endParaRPr lang="en-US" sz="3550" dirty="0"/>
          </a:p>
        </p:txBody>
      </p:sp>
      <p:sp>
        <p:nvSpPr>
          <p:cNvPr id="5" name="Text 1"/>
          <p:cNvSpPr/>
          <p:nvPr/>
        </p:nvSpPr>
        <p:spPr>
          <a:xfrm>
            <a:off x="830520" y="2786658"/>
            <a:ext cx="2476976" cy="271463"/>
          </a:xfrm>
          <a:prstGeom prst="rect">
            <a:avLst/>
          </a:prstGeom>
          <a:noFill/>
          <a:ln/>
        </p:spPr>
        <p:txBody>
          <a:bodyPr wrap="square" lIns="0" tIns="0" rIns="0" bIns="0" rtlCol="0" anchor="t"/>
          <a:lstStyle/>
          <a:p>
            <a:pPr algn="l" indent="0" marL="0">
              <a:lnSpc>
                <a:spcPts val="2140"/>
              </a:lnSpc>
              <a:buNone/>
            </a:pPr>
            <a:r>
              <a:rPr lang="en-US" sz="1430" b="1" dirty="0">
                <a:solidFill>
                  <a:srgbClr val="FFFFFF"/>
                </a:solidFill>
                <a:latin typeface="Libre Franklin" pitchFamily="34" charset="0"/>
                <a:ea typeface="Libre Franklin" pitchFamily="34" charset="-122"/>
                <a:cs typeface="Libre Franklin" pitchFamily="34" charset="-120"/>
              </a:rPr>
              <a:t>Rules-based tiering</a:t>
            </a:r>
            <a:endParaRPr lang="en-US" sz="1430" dirty="0"/>
          </a:p>
        </p:txBody>
      </p:sp>
      <p:sp>
        <p:nvSpPr>
          <p:cNvPr id="6" name="Text 2"/>
          <p:cNvSpPr/>
          <p:nvPr/>
        </p:nvSpPr>
        <p:spPr>
          <a:xfrm>
            <a:off x="830520" y="3121372"/>
            <a:ext cx="2476976" cy="1357313"/>
          </a:xfrm>
          <a:prstGeom prst="rect">
            <a:avLst/>
          </a:prstGeom>
          <a:noFill/>
          <a:ln/>
        </p:spPr>
        <p:txBody>
          <a:bodyPr wrap="square" lIns="0" tIns="0" rIns="0" bIns="0" rtlCol="0" anchor="t"/>
          <a:lstStyle/>
          <a:p>
            <a:pPr algn="l" indent="0" marL="0">
              <a:lnSpc>
                <a:spcPts val="2140"/>
              </a:lnSpc>
              <a:buNone/>
            </a:pPr>
            <a:r>
              <a:rPr lang="en-US" sz="1430" dirty="0">
                <a:solidFill>
                  <a:srgbClr val="C7CFF6"/>
                </a:solidFill>
                <a:latin typeface="Libre Franklin" pitchFamily="34" charset="0"/>
                <a:ea typeface="Libre Franklin" pitchFamily="34" charset="-122"/>
                <a:cs typeface="Libre Franklin" pitchFamily="34" charset="-120"/>
              </a:rPr>
              <a:t>Properties decide the tier.</a:t>
            </a:r>
            <a:pPr algn="l" indent="0" marL="0">
              <a:lnSpc>
                <a:spcPts val="2140"/>
              </a:lnSpc>
              <a:buNone/>
            </a:pPr>
            <a:r>
              <a:rPr lang="en-US" sz="1430" dirty="0">
                <a:solidFill>
                  <a:srgbClr val="C7CFF6"/>
                </a:solidFill>
                <a:latin typeface="Libre Franklin" pitchFamily="34" charset="0"/>
                <a:ea typeface="Libre Franklin" pitchFamily="34" charset="-122"/>
                <a:cs typeface="Libre Franklin" pitchFamily="34" charset="-120"/>
              </a:rPr>
              <a:t> A person ratifies it, because that one property scopes every obligation downstream.</a:t>
            </a:r>
            <a:endParaRPr lang="en-US" sz="1430" dirty="0"/>
          </a:p>
        </p:txBody>
      </p:sp>
      <p:sp>
        <p:nvSpPr>
          <p:cNvPr id="7" name="Text 3"/>
          <p:cNvSpPr/>
          <p:nvPr/>
        </p:nvSpPr>
        <p:spPr>
          <a:xfrm>
            <a:off x="3515082" y="2786658"/>
            <a:ext cx="2477125" cy="271463"/>
          </a:xfrm>
          <a:prstGeom prst="rect">
            <a:avLst/>
          </a:prstGeom>
          <a:noFill/>
          <a:ln/>
        </p:spPr>
        <p:txBody>
          <a:bodyPr wrap="square" lIns="0" tIns="0" rIns="0" bIns="0" rtlCol="0" anchor="t"/>
          <a:lstStyle/>
          <a:p>
            <a:pPr algn="l" indent="0" marL="0">
              <a:lnSpc>
                <a:spcPts val="2140"/>
              </a:lnSpc>
              <a:buNone/>
            </a:pPr>
            <a:r>
              <a:rPr lang="en-US" sz="1430" b="1" dirty="0">
                <a:solidFill>
                  <a:srgbClr val="FFFFFF"/>
                </a:solidFill>
                <a:latin typeface="Libre Franklin" pitchFamily="34" charset="0"/>
                <a:ea typeface="Libre Franklin" pitchFamily="34" charset="-122"/>
                <a:cs typeface="Libre Franklin" pitchFamily="34" charset="-120"/>
              </a:rPr>
              <a:t>Rules-based control profiles</a:t>
            </a:r>
            <a:endParaRPr lang="en-US" sz="1430" dirty="0"/>
          </a:p>
        </p:txBody>
      </p:sp>
      <p:sp>
        <p:nvSpPr>
          <p:cNvPr id="8" name="Text 4"/>
          <p:cNvSpPr/>
          <p:nvPr/>
        </p:nvSpPr>
        <p:spPr>
          <a:xfrm>
            <a:off x="3515082" y="3121372"/>
            <a:ext cx="2477125" cy="1357313"/>
          </a:xfrm>
          <a:prstGeom prst="rect">
            <a:avLst/>
          </a:prstGeom>
          <a:noFill/>
          <a:ln/>
        </p:spPr>
        <p:txBody>
          <a:bodyPr wrap="square" lIns="0" tIns="0" rIns="0" bIns="0" rtlCol="0" anchor="t"/>
          <a:lstStyle/>
          <a:p>
            <a:pPr algn="l" indent="0" marL="0">
              <a:lnSpc>
                <a:spcPts val="2140"/>
              </a:lnSpc>
              <a:buNone/>
            </a:pPr>
            <a:r>
              <a:rPr lang="en-US" sz="1430" dirty="0">
                <a:solidFill>
                  <a:srgbClr val="C7CFF6"/>
                </a:solidFill>
                <a:latin typeface="Libre Franklin" pitchFamily="34" charset="0"/>
                <a:ea typeface="Libre Franklin" pitchFamily="34" charset="-122"/>
                <a:cs typeface="Libre Franklin" pitchFamily="34" charset="-120"/>
              </a:rPr>
              <a:t>The tier resolves its own control set.</a:t>
            </a:r>
            <a:pPr algn="l" indent="0" marL="0">
              <a:lnSpc>
                <a:spcPts val="2140"/>
              </a:lnSpc>
              <a:buNone/>
            </a:pPr>
            <a:r>
              <a:rPr lang="en-US" sz="1430" dirty="0">
                <a:solidFill>
                  <a:srgbClr val="C7CFF6"/>
                </a:solidFill>
                <a:latin typeface="Libre Franklin" pitchFamily="34" charset="0"/>
                <a:ea typeface="Libre Franklin" pitchFamily="34" charset="-122"/>
                <a:cs typeface="Libre Franklin" pitchFamily="34" charset="-120"/>
              </a:rPr>
              <a:t> Nobody has to manually maps controls per system (but they can edit the set).</a:t>
            </a:r>
            <a:endParaRPr lang="en-US" sz="1430" dirty="0"/>
          </a:p>
        </p:txBody>
      </p:sp>
      <p:sp>
        <p:nvSpPr>
          <p:cNvPr id="9" name="Text 5"/>
          <p:cNvSpPr/>
          <p:nvPr/>
        </p:nvSpPr>
        <p:spPr>
          <a:xfrm>
            <a:off x="6199793" y="2786658"/>
            <a:ext cx="2476976" cy="271463"/>
          </a:xfrm>
          <a:prstGeom prst="rect">
            <a:avLst/>
          </a:prstGeom>
          <a:noFill/>
          <a:ln/>
        </p:spPr>
        <p:txBody>
          <a:bodyPr wrap="square" lIns="0" tIns="0" rIns="0" bIns="0" rtlCol="0" anchor="t"/>
          <a:lstStyle/>
          <a:p>
            <a:pPr algn="l" indent="0" marL="0">
              <a:lnSpc>
                <a:spcPts val="2140"/>
              </a:lnSpc>
              <a:buNone/>
            </a:pPr>
            <a:r>
              <a:rPr lang="en-US" sz="1430" b="1" dirty="0">
                <a:solidFill>
                  <a:srgbClr val="FFFFFF"/>
                </a:solidFill>
                <a:latin typeface="Libre Franklin" pitchFamily="34" charset="0"/>
                <a:ea typeface="Libre Franklin" pitchFamily="34" charset="-122"/>
                <a:cs typeface="Libre Franklin" pitchFamily="34" charset="-120"/>
              </a:rPr>
              <a:t>Lifecycle approvals</a:t>
            </a:r>
            <a:endParaRPr lang="en-US" sz="1430" dirty="0"/>
          </a:p>
        </p:txBody>
      </p:sp>
      <p:sp>
        <p:nvSpPr>
          <p:cNvPr id="10" name="Text 6"/>
          <p:cNvSpPr/>
          <p:nvPr/>
        </p:nvSpPr>
        <p:spPr>
          <a:xfrm>
            <a:off x="6199793" y="3121372"/>
            <a:ext cx="2476976" cy="1085850"/>
          </a:xfrm>
          <a:prstGeom prst="rect">
            <a:avLst/>
          </a:prstGeom>
          <a:noFill/>
          <a:ln/>
        </p:spPr>
        <p:txBody>
          <a:bodyPr wrap="square" lIns="0" tIns="0" rIns="0" bIns="0" rtlCol="0" anchor="t"/>
          <a:lstStyle/>
          <a:p>
            <a:pPr algn="l" indent="0" marL="0">
              <a:lnSpc>
                <a:spcPts val="2140"/>
              </a:lnSpc>
              <a:buNone/>
            </a:pPr>
            <a:r>
              <a:rPr lang="en-US" sz="1430" dirty="0">
                <a:solidFill>
                  <a:srgbClr val="C7CFF6"/>
                </a:solidFill>
                <a:latin typeface="Libre Franklin" pitchFamily="34" charset="0"/>
                <a:ea typeface="Libre Franklin" pitchFamily="34" charset="-122"/>
                <a:cs typeface="Libre Franklin" pitchFamily="34" charset="-120"/>
              </a:rPr>
              <a:t>A stage transition gates on approval, and reviews go to the role that owns them, when due.</a:t>
            </a:r>
            <a:endParaRPr lang="en-US" sz="1430" dirty="0"/>
          </a:p>
        </p:txBody>
      </p:sp>
      <p:sp>
        <p:nvSpPr>
          <p:cNvPr id="11" name="Text 7"/>
          <p:cNvSpPr/>
          <p:nvPr/>
        </p:nvSpPr>
        <p:spPr>
          <a:xfrm>
            <a:off x="8884354" y="2786658"/>
            <a:ext cx="2477125" cy="271463"/>
          </a:xfrm>
          <a:prstGeom prst="rect">
            <a:avLst/>
          </a:prstGeom>
          <a:noFill/>
          <a:ln/>
        </p:spPr>
        <p:txBody>
          <a:bodyPr wrap="square" lIns="0" tIns="0" rIns="0" bIns="0" rtlCol="0" anchor="t"/>
          <a:lstStyle/>
          <a:p>
            <a:pPr algn="l" indent="0" marL="0">
              <a:lnSpc>
                <a:spcPts val="2140"/>
              </a:lnSpc>
              <a:buNone/>
            </a:pPr>
            <a:r>
              <a:rPr lang="en-US" sz="1430" b="1" dirty="0">
                <a:solidFill>
                  <a:srgbClr val="FFFFFF"/>
                </a:solidFill>
                <a:latin typeface="Libre Franklin" pitchFamily="34" charset="0"/>
                <a:ea typeface="Libre Franklin" pitchFamily="34" charset="-122"/>
                <a:cs typeface="Libre Franklin" pitchFamily="34" charset="-120"/>
              </a:rPr>
              <a:t>Event-based triggers</a:t>
            </a:r>
            <a:endParaRPr lang="en-US" sz="1430" dirty="0"/>
          </a:p>
        </p:txBody>
      </p:sp>
      <p:sp>
        <p:nvSpPr>
          <p:cNvPr id="12" name="Text 8"/>
          <p:cNvSpPr/>
          <p:nvPr/>
        </p:nvSpPr>
        <p:spPr>
          <a:xfrm>
            <a:off x="8884354" y="3121372"/>
            <a:ext cx="2477125" cy="1085850"/>
          </a:xfrm>
          <a:prstGeom prst="rect">
            <a:avLst/>
          </a:prstGeom>
          <a:noFill/>
          <a:ln/>
        </p:spPr>
        <p:txBody>
          <a:bodyPr wrap="square" lIns="0" tIns="0" rIns="0" bIns="0" rtlCol="0" anchor="t"/>
          <a:lstStyle/>
          <a:p>
            <a:pPr algn="l" indent="0" marL="0">
              <a:lnSpc>
                <a:spcPts val="2140"/>
              </a:lnSpc>
              <a:buNone/>
            </a:pPr>
            <a:r>
              <a:rPr lang="en-US" sz="1430" dirty="0">
                <a:solidFill>
                  <a:srgbClr val="C7CFF6"/>
                </a:solidFill>
                <a:latin typeface="Libre Franklin" pitchFamily="34" charset="0"/>
                <a:ea typeface="Libre Franklin" pitchFamily="34" charset="-122"/>
                <a:cs typeface="Libre Franklin" pitchFamily="34" charset="-120"/>
              </a:rPr>
              <a:t>Drift, an incident or a change reopens the assessment.</a:t>
            </a:r>
            <a:pPr algn="l" indent="0" marL="0">
              <a:lnSpc>
                <a:spcPts val="2140"/>
              </a:lnSpc>
              <a:buNone/>
            </a:pPr>
            <a:r>
              <a:rPr lang="en-US" sz="1430" dirty="0">
                <a:solidFill>
                  <a:srgbClr val="C7CFF6"/>
                </a:solidFill>
                <a:latin typeface="Libre Franklin" pitchFamily="34" charset="0"/>
                <a:ea typeface="Libre Franklin" pitchFamily="34" charset="-122"/>
                <a:cs typeface="Libre Franklin" pitchFamily="34" charset="-120"/>
              </a:rPr>
              <a:t> Production keeps the record current.</a:t>
            </a:r>
            <a:endParaRPr lang="en-US" sz="1430" dirty="0"/>
          </a:p>
        </p:txBody>
      </p:sp>
      <p:sp>
        <p:nvSpPr>
          <p:cNvPr id="13" name="Text 9"/>
          <p:cNvSpPr/>
          <p:nvPr/>
        </p:nvSpPr>
        <p:spPr>
          <a:xfrm>
            <a:off x="830520" y="4752975"/>
            <a:ext cx="10530959" cy="225177"/>
          </a:xfrm>
          <a:prstGeom prst="rect">
            <a:avLst/>
          </a:prstGeom>
          <a:noFill/>
          <a:ln/>
        </p:spPr>
        <p:txBody>
          <a:bodyPr wrap="square" lIns="0" tIns="0" rIns="0" bIns="0" rtlCol="0" anchor="t"/>
          <a:lstStyle/>
          <a:p>
            <a:pPr algn="l" indent="0" marL="0">
              <a:lnSpc>
                <a:spcPts val="1770"/>
              </a:lnSpc>
              <a:buNone/>
            </a:pPr>
            <a:r>
              <a:rPr lang="en-US" sz="1180" i="1" dirty="0">
                <a:solidFill>
                  <a:srgbClr val="C7CFF6"/>
                </a:solidFill>
                <a:latin typeface="Libre Franklin" pitchFamily="34" charset="0"/>
                <a:ea typeface="Libre Franklin" pitchFamily="34" charset="-122"/>
                <a:cs typeface="Libre Franklin" pitchFamily="34" charset="-120"/>
              </a:rPr>
              <a:t>Where this goes: the same loop at the scale of the whole AI estate of an organisation - with more of it automated and a person still deciding.</a:t>
            </a:r>
            <a:endParaRPr lang="en-US" sz="1180" dirty="0"/>
          </a:p>
        </p:txBody>
      </p:sp>
      <p:sp>
        <p:nvSpPr>
          <p:cNvPr id="14" name="Text 10"/>
          <p:cNvSpPr/>
          <p:nvPr/>
        </p:nvSpPr>
        <p:spPr>
          <a:xfrm>
            <a:off x="220920" y="6530429"/>
            <a:ext cx="114627" cy="114300"/>
          </a:xfrm>
          <a:prstGeom prst="rect">
            <a:avLst/>
          </a:prstGeom>
          <a:noFill/>
          <a:ln/>
        </p:spPr>
        <p:txBody>
          <a:bodyPr wrap="square" lIns="0" tIns="0" rIns="0" bIns="0" rtlCol="0" anchor="t"/>
          <a:lstStyle/>
          <a:p>
            <a:pPr algn="l" indent="0" marL="0">
              <a:lnSpc>
                <a:spcPts val="900"/>
              </a:lnSpc>
              <a:buNone/>
            </a:pPr>
            <a:r>
              <a:rPr lang="en-US" sz="900" dirty="0">
                <a:solidFill>
                  <a:srgbClr val="90A0EE"/>
                </a:solidFill>
                <a:latin typeface="SF Mono" pitchFamily="34" charset="0"/>
                <a:ea typeface="SF Mono" pitchFamily="34" charset="-122"/>
                <a:cs typeface="SF Mono" pitchFamily="34" charset="-120"/>
              </a:rPr>
              <a:t>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2026-09-07T10:15:27Z</dcterms:created>
  <dcterms:modified xsi:type="dcterms:W3CDTF">2026-09-07T10:15:27Z</dcterms:modified>
</cp:coreProperties>
</file>