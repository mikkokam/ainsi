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7959"/>
  <p:notesSz cx="6857959"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7959"/>
          </a:xfrm>
          <a:prstGeom prst="rect">
            <a:avLst/>
          </a:prstGeom>
        </p:spPr>
      </p:pic>
      <p:sp>
        <p:nvSpPr>
          <p:cNvPr id="3" name="Text 0"/>
          <p:cNvSpPr/>
          <p:nvPr/>
        </p:nvSpPr>
        <p:spPr>
          <a:xfrm>
            <a:off x="830521" y="861395"/>
            <a:ext cx="10530958" cy="247445"/>
          </a:xfrm>
          <a:prstGeom prst="rect">
            <a:avLst/>
          </a:prstGeom>
          <a:noFill/>
          <a:ln/>
        </p:spPr>
        <p:txBody>
          <a:bodyPr wrap="square" lIns="0" tIns="0" rIns="0" bIns="0" rtlCol="0" anchor="t"/>
          <a:lstStyle/>
          <a:p>
            <a:pPr algn="l" indent="0" marL="0">
              <a:lnSpc>
                <a:spcPts val="1950"/>
              </a:lnSpc>
              <a:buNone/>
            </a:pPr>
            <a:r>
              <a:rPr lang="en-US" sz="1300" b="1" dirty="0">
                <a:solidFill>
                  <a:srgbClr val="3150FF"/>
                </a:solidFill>
                <a:latin typeface="Inter" pitchFamily="34" charset="0"/>
                <a:ea typeface="Inter" pitchFamily="34" charset="-122"/>
                <a:cs typeface="Inter" pitchFamily="34" charset="-120"/>
              </a:rPr>
              <a:t>Runtime enforcement</a:t>
            </a:r>
            <a:endParaRPr lang="en-US" sz="1300" dirty="0"/>
          </a:p>
        </p:txBody>
      </p:sp>
      <p:sp>
        <p:nvSpPr>
          <p:cNvPr id="4" name="Text 1"/>
          <p:cNvSpPr/>
          <p:nvPr/>
        </p:nvSpPr>
        <p:spPr>
          <a:xfrm>
            <a:off x="830521" y="1410254"/>
            <a:ext cx="10530958" cy="554583"/>
          </a:xfrm>
          <a:prstGeom prst="rect">
            <a:avLst/>
          </a:prstGeom>
          <a:noFill/>
          <a:ln/>
        </p:spPr>
        <p:txBody>
          <a:bodyPr wrap="square" lIns="0" tIns="0" rIns="0" bIns="0" rtlCol="0" anchor="t"/>
          <a:lstStyle/>
          <a:p>
            <a:pPr algn="l" indent="0" marL="0">
              <a:lnSpc>
                <a:spcPts val="4370"/>
              </a:lnSpc>
              <a:buNone/>
            </a:pPr>
            <a:r>
              <a:rPr lang="en-US" sz="3900" dirty="0">
                <a:solidFill>
                  <a:srgbClr val="000000"/>
                </a:solidFill>
                <a:latin typeface="Copyright Peregrin Studio" pitchFamily="34" charset="0"/>
                <a:ea typeface="Copyright Peregrin Studio" pitchFamily="34" charset="-122"/>
                <a:cs typeface="Copyright Peregrin Studio" pitchFamily="34" charset="-120"/>
              </a:rPr>
              <a:t>The systems being governed are in flux</a:t>
            </a:r>
            <a:endParaRPr lang="en-US" sz="3900" dirty="0"/>
          </a:p>
        </p:txBody>
      </p:sp>
      <p:sp>
        <p:nvSpPr>
          <p:cNvPr id="5" name="Text 2"/>
          <p:cNvSpPr/>
          <p:nvPr/>
        </p:nvSpPr>
        <p:spPr>
          <a:xfrm>
            <a:off x="1079601" y="2885763"/>
            <a:ext cx="2841696" cy="298307"/>
          </a:xfrm>
          <a:prstGeom prst="rect">
            <a:avLst/>
          </a:prstGeom>
          <a:noFill/>
          <a:ln/>
        </p:spPr>
        <p:txBody>
          <a:bodyPr wrap="square" lIns="0" tIns="0" rIns="0" bIns="0" rtlCol="0" anchor="t"/>
          <a:lstStyle/>
          <a:p>
            <a:pPr algn="l" indent="0" marL="0">
              <a:lnSpc>
                <a:spcPts val="2350"/>
              </a:lnSpc>
              <a:buNone/>
            </a:pPr>
            <a:r>
              <a:rPr lang="en-US" sz="1570" b="1" dirty="0">
                <a:solidFill>
                  <a:srgbClr val="252525"/>
                </a:solidFill>
                <a:latin typeface="Inter" pitchFamily="34" charset="0"/>
                <a:ea typeface="Inter" pitchFamily="34" charset="-122"/>
                <a:cs typeface="Inter" pitchFamily="34" charset="-120"/>
              </a:rPr>
              <a:t>Models</a:t>
            </a:r>
            <a:endParaRPr lang="en-US" sz="1570" dirty="0"/>
          </a:p>
        </p:txBody>
      </p:sp>
      <p:sp>
        <p:nvSpPr>
          <p:cNvPr id="6" name="Text 3"/>
          <p:cNvSpPr/>
          <p:nvPr/>
        </p:nvSpPr>
        <p:spPr>
          <a:xfrm>
            <a:off x="1079601" y="3253577"/>
            <a:ext cx="2841696" cy="1097718"/>
          </a:xfrm>
          <a:prstGeom prst="rect">
            <a:avLst/>
          </a:prstGeom>
          <a:noFill/>
          <a:ln/>
        </p:spPr>
        <p:txBody>
          <a:bodyPr wrap="square" lIns="0" tIns="0" rIns="0" bIns="0" rtlCol="0" anchor="t"/>
          <a:lstStyle/>
          <a:p>
            <a:pPr algn="l" indent="0" marL="0">
              <a:lnSpc>
                <a:spcPts val="2160"/>
              </a:lnSpc>
              <a:buNone/>
            </a:pPr>
            <a:r>
              <a:rPr lang="en-US" sz="1440" dirty="0">
                <a:solidFill>
                  <a:srgbClr val="626262"/>
                </a:solidFill>
                <a:latin typeface="Inter" pitchFamily="34" charset="0"/>
                <a:ea typeface="Inter" pitchFamily="34" charset="-122"/>
                <a:cs typeface="Inter" pitchFamily="34" charset="-120"/>
              </a:rPr>
              <a:t>Swapped for a newer version, another provider; or a fine-tune, and every system built on the old one inherits the change.</a:t>
            </a:r>
            <a:endParaRPr lang="en-US" sz="1440" dirty="0"/>
          </a:p>
        </p:txBody>
      </p:sp>
      <p:sp>
        <p:nvSpPr>
          <p:cNvPr id="7" name="Text 4"/>
          <p:cNvSpPr/>
          <p:nvPr/>
        </p:nvSpPr>
        <p:spPr>
          <a:xfrm>
            <a:off x="4675152" y="2885763"/>
            <a:ext cx="2841696" cy="596614"/>
          </a:xfrm>
          <a:prstGeom prst="rect">
            <a:avLst/>
          </a:prstGeom>
          <a:noFill/>
          <a:ln/>
        </p:spPr>
        <p:txBody>
          <a:bodyPr wrap="square" lIns="0" tIns="0" rIns="0" bIns="0" rtlCol="0" anchor="t"/>
          <a:lstStyle/>
          <a:p>
            <a:pPr algn="l" indent="0" marL="0">
              <a:lnSpc>
                <a:spcPts val="2350"/>
              </a:lnSpc>
              <a:buNone/>
            </a:pPr>
            <a:r>
              <a:rPr lang="en-US" sz="1570" b="1" dirty="0">
                <a:solidFill>
                  <a:srgbClr val="252525"/>
                </a:solidFill>
                <a:latin typeface="Inter" pitchFamily="34" charset="0"/>
                <a:ea typeface="Inter" pitchFamily="34" charset="-122"/>
                <a:cs typeface="Inter" pitchFamily="34" charset="-120"/>
              </a:rPr>
              <a:t>Agents and the platforms they run on</a:t>
            </a:r>
            <a:endParaRPr lang="en-US" sz="1570" dirty="0"/>
          </a:p>
        </p:txBody>
      </p:sp>
      <p:sp>
        <p:nvSpPr>
          <p:cNvPr id="8" name="Text 5"/>
          <p:cNvSpPr/>
          <p:nvPr/>
        </p:nvSpPr>
        <p:spPr>
          <a:xfrm>
            <a:off x="4675152" y="3551884"/>
            <a:ext cx="2841696" cy="1372148"/>
          </a:xfrm>
          <a:prstGeom prst="rect">
            <a:avLst/>
          </a:prstGeom>
          <a:noFill/>
          <a:ln/>
        </p:spPr>
        <p:txBody>
          <a:bodyPr wrap="square" lIns="0" tIns="0" rIns="0" bIns="0" rtlCol="0" anchor="t"/>
          <a:lstStyle/>
          <a:p>
            <a:pPr algn="l" indent="0" marL="0">
              <a:lnSpc>
                <a:spcPts val="2160"/>
              </a:lnSpc>
              <a:buNone/>
            </a:pPr>
            <a:r>
              <a:rPr lang="en-US" sz="1440" dirty="0">
                <a:solidFill>
                  <a:srgbClr val="626262"/>
                </a:solidFill>
                <a:latin typeface="Inter" pitchFamily="34" charset="0"/>
                <a:ea typeface="Inter" pitchFamily="34" charset="-122"/>
                <a:cs typeface="Inter" pitchFamily="34" charset="-120"/>
              </a:rPr>
              <a:t>Built on Foundry, Bedrock, Google or in-house orchestration, reaching into business systems through tools, replaced in weeks.</a:t>
            </a:r>
            <a:endParaRPr lang="en-US" sz="1440" dirty="0"/>
          </a:p>
        </p:txBody>
      </p:sp>
      <p:sp>
        <p:nvSpPr>
          <p:cNvPr id="9" name="Text 6"/>
          <p:cNvSpPr/>
          <p:nvPr/>
        </p:nvSpPr>
        <p:spPr>
          <a:xfrm>
            <a:off x="8270703" y="2885763"/>
            <a:ext cx="2841696" cy="596614"/>
          </a:xfrm>
          <a:prstGeom prst="rect">
            <a:avLst/>
          </a:prstGeom>
          <a:noFill/>
          <a:ln/>
        </p:spPr>
        <p:txBody>
          <a:bodyPr wrap="square" lIns="0" tIns="0" rIns="0" bIns="0" rtlCol="0" anchor="t"/>
          <a:lstStyle/>
          <a:p>
            <a:pPr algn="l" indent="0" marL="0">
              <a:lnSpc>
                <a:spcPts val="2350"/>
              </a:lnSpc>
              <a:buNone/>
            </a:pPr>
            <a:r>
              <a:rPr lang="en-US" sz="1570" b="1" dirty="0">
                <a:solidFill>
                  <a:srgbClr val="252525"/>
                </a:solidFill>
                <a:latin typeface="Inter" pitchFamily="34" charset="0"/>
                <a:ea typeface="Inter" pitchFamily="34" charset="-122"/>
                <a:cs typeface="Inter" pitchFamily="34" charset="-120"/>
              </a:rPr>
              <a:t>AI inside the tools already in use</a:t>
            </a:r>
            <a:endParaRPr lang="en-US" sz="1570" dirty="0"/>
          </a:p>
        </p:txBody>
      </p:sp>
      <p:sp>
        <p:nvSpPr>
          <p:cNvPr id="10" name="Text 7"/>
          <p:cNvSpPr/>
          <p:nvPr/>
        </p:nvSpPr>
        <p:spPr>
          <a:xfrm>
            <a:off x="8270703" y="3551884"/>
            <a:ext cx="2841696" cy="1646577"/>
          </a:xfrm>
          <a:prstGeom prst="rect">
            <a:avLst/>
          </a:prstGeom>
          <a:noFill/>
          <a:ln/>
        </p:spPr>
        <p:txBody>
          <a:bodyPr wrap="square" lIns="0" tIns="0" rIns="0" bIns="0" rtlCol="0" anchor="t"/>
          <a:lstStyle/>
          <a:p>
            <a:pPr algn="l" indent="0" marL="0">
              <a:lnSpc>
                <a:spcPts val="2160"/>
              </a:lnSpc>
              <a:buNone/>
            </a:pPr>
            <a:r>
              <a:rPr lang="en-US" sz="1440" dirty="0">
                <a:solidFill>
                  <a:srgbClr val="626262"/>
                </a:solidFill>
                <a:latin typeface="Inter" pitchFamily="34" charset="0"/>
                <a:ea typeface="Inter" pitchFamily="34" charset="-122"/>
                <a:cs typeface="Inter" pitchFamily="34" charset="-120"/>
              </a:rPr>
              <a:t>Copilots in productivity suites, assistants inside SaaS, GenAI in the delivery pipeline. Adopted faster than any review cycle, often without anyone registering them.</a:t>
            </a:r>
            <a:endParaRPr lang="en-US" sz="1440" dirty="0"/>
          </a:p>
        </p:txBody>
      </p:sp>
      <p:sp>
        <p:nvSpPr>
          <p:cNvPr id="11" name="Text 8"/>
          <p:cNvSpPr/>
          <p:nvPr/>
        </p:nvSpPr>
        <p:spPr>
          <a:xfrm>
            <a:off x="830521" y="5748956"/>
            <a:ext cx="10530958" cy="247445"/>
          </a:xfrm>
          <a:prstGeom prst="rect">
            <a:avLst/>
          </a:prstGeom>
          <a:noFill/>
          <a:ln/>
        </p:spPr>
        <p:txBody>
          <a:bodyPr wrap="square" lIns="0" tIns="0" rIns="0" bIns="0" rtlCol="0" anchor="t"/>
          <a:lstStyle/>
          <a:p>
            <a:pPr algn="l" indent="0" marL="0">
              <a:lnSpc>
                <a:spcPts val="1950"/>
              </a:lnSpc>
              <a:buNone/>
            </a:pPr>
            <a:r>
              <a:rPr lang="en-US" sz="1300" dirty="0">
                <a:solidFill>
                  <a:srgbClr val="626262"/>
                </a:solidFill>
                <a:latin typeface="Inter" pitchFamily="34" charset="0"/>
                <a:ea typeface="Inter" pitchFamily="34" charset="-122"/>
                <a:cs typeface="Inter" pitchFamily="34" charset="-120"/>
              </a:rPr>
              <a:t>AI estate in organisations changes weekly. Governance designed around a quarterly model review meets a fleet it cannot see.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7959"/>
          </a:xfrm>
          <a:prstGeom prst="rect">
            <a:avLst/>
          </a:prstGeom>
        </p:spPr>
      </p:pic>
      <p:sp>
        <p:nvSpPr>
          <p:cNvPr id="3" name="Text 0"/>
          <p:cNvSpPr/>
          <p:nvPr/>
        </p:nvSpPr>
        <p:spPr>
          <a:xfrm>
            <a:off x="830521" y="219151"/>
            <a:ext cx="2548622" cy="1380652"/>
          </a:xfrm>
          <a:prstGeom prst="rect">
            <a:avLst/>
          </a:prstGeom>
          <a:noFill/>
          <a:ln/>
        </p:spPr>
        <p:txBody>
          <a:bodyPr wrap="square" lIns="0" tIns="0" rIns="0" bIns="0" rtlCol="0" anchor="t"/>
          <a:lstStyle/>
          <a:p>
            <a:pPr algn="l" indent="0" marL="0">
              <a:lnSpc>
                <a:spcPts val="3620"/>
              </a:lnSpc>
              <a:buNone/>
            </a:pPr>
            <a:r>
              <a:rPr lang="en-US" sz="3240" dirty="0">
                <a:solidFill>
                  <a:srgbClr val="252525"/>
                </a:solidFill>
                <a:latin typeface="Copyright Peregrin Studio" pitchFamily="34" charset="0"/>
                <a:ea typeface="Copyright Peregrin Studio" pitchFamily="34" charset="-122"/>
                <a:cs typeface="Copyright Peregrin Studio" pitchFamily="34" charset="-120"/>
              </a:rPr>
              <a:t>A control plane governs what it runs</a:t>
            </a:r>
            <a:endParaRPr lang="en-US" sz="3240" dirty="0"/>
          </a:p>
        </p:txBody>
      </p:sp>
      <p:sp>
        <p:nvSpPr>
          <p:cNvPr id="4" name="Text 1"/>
          <p:cNvSpPr/>
          <p:nvPr/>
        </p:nvSpPr>
        <p:spPr>
          <a:xfrm>
            <a:off x="830521" y="1719028"/>
            <a:ext cx="2548622" cy="1237223"/>
          </a:xfrm>
          <a:prstGeom prst="rect">
            <a:avLst/>
          </a:prstGeom>
          <a:noFill/>
          <a:ln/>
        </p:spPr>
        <p:txBody>
          <a:bodyPr wrap="square" lIns="0" tIns="0" rIns="0" bIns="0" rtlCol="0" anchor="t"/>
          <a:lstStyle/>
          <a:p>
            <a:pPr algn="l" indent="0" marL="0">
              <a:lnSpc>
                <a:spcPts val="1950"/>
              </a:lnSpc>
              <a:buNone/>
            </a:pPr>
            <a:r>
              <a:rPr lang="en-US" sz="1300" dirty="0">
                <a:solidFill>
                  <a:srgbClr val="252525"/>
                </a:solidFill>
                <a:latin typeface="Inter" pitchFamily="34" charset="0"/>
                <a:ea typeface="Inter" pitchFamily="34" charset="-122"/>
                <a:cs typeface="Inter" pitchFamily="34" charset="-120"/>
              </a:rPr>
              <a:t>Each runtime enforces at its own boundary: tool calls, approval gates, content filters. That enforcement is real, and it </a:t>
            </a:r>
            <a:pPr algn="l" indent="0" marL="0">
              <a:lnSpc>
                <a:spcPts val="1950"/>
              </a:lnSpc>
              <a:buNone/>
            </a:pPr>
            <a:r>
              <a:rPr lang="en-US" sz="1300" b="1" dirty="0">
                <a:solidFill>
                  <a:srgbClr val="252525"/>
                </a:solidFill>
                <a:latin typeface="Inter" pitchFamily="34" charset="0"/>
                <a:ea typeface="Inter" pitchFamily="34" charset="-122"/>
                <a:cs typeface="Inter" pitchFamily="34" charset="-120"/>
              </a:rPr>
              <a:t>stops at the platform edge</a:t>
            </a:r>
            <a:pPr algn="l" indent="0" marL="0">
              <a:lnSpc>
                <a:spcPts val="1950"/>
              </a:lnSpc>
              <a:buNone/>
            </a:pPr>
            <a:r>
              <a:rPr lang="en-US" sz="1300" dirty="0">
                <a:solidFill>
                  <a:srgbClr val="252525"/>
                </a:solidFill>
                <a:latin typeface="Inter" pitchFamily="34" charset="0"/>
                <a:ea typeface="Inter" pitchFamily="34" charset="-122"/>
                <a:cs typeface="Inter" pitchFamily="34" charset="-120"/>
              </a:rPr>
              <a:t>.</a:t>
            </a:r>
            <a:endParaRPr lang="en-US" sz="1300" dirty="0"/>
          </a:p>
        </p:txBody>
      </p:sp>
      <p:sp>
        <p:nvSpPr>
          <p:cNvPr id="5" name="Text 2"/>
          <p:cNvSpPr/>
          <p:nvPr/>
        </p:nvSpPr>
        <p:spPr>
          <a:xfrm>
            <a:off x="830521" y="3065499"/>
            <a:ext cx="2548622" cy="1979556"/>
          </a:xfrm>
          <a:prstGeom prst="rect">
            <a:avLst/>
          </a:prstGeom>
          <a:noFill/>
          <a:ln/>
        </p:spPr>
        <p:txBody>
          <a:bodyPr wrap="square" lIns="0" tIns="0" rIns="0" bIns="0" rtlCol="0" anchor="t"/>
          <a:lstStyle/>
          <a:p>
            <a:pPr algn="l" indent="0" marL="0">
              <a:lnSpc>
                <a:spcPts val="1950"/>
              </a:lnSpc>
              <a:buNone/>
            </a:pPr>
            <a:r>
              <a:rPr lang="en-US" sz="1300" dirty="0">
                <a:solidFill>
                  <a:srgbClr val="252525"/>
                </a:solidFill>
                <a:latin typeface="Inter" pitchFamily="34" charset="0"/>
                <a:ea typeface="Inter" pitchFamily="34" charset="-122"/>
                <a:cs typeface="Inter" pitchFamily="34" charset="-120"/>
              </a:rPr>
              <a:t>The platform knows who runs a workflow and who approved a change. It does not carry the system's purpose, its risk tier or the person answerable for it. Risk is contextual, so the tier is decided where the use case is, not where the code runs.</a:t>
            </a:r>
            <a:endParaRPr lang="en-US" sz="1300" dirty="0"/>
          </a:p>
        </p:txBody>
      </p:sp>
      <p:sp>
        <p:nvSpPr>
          <p:cNvPr id="6" name="Text 3"/>
          <p:cNvSpPr/>
          <p:nvPr/>
        </p:nvSpPr>
        <p:spPr>
          <a:xfrm>
            <a:off x="830521" y="5154304"/>
            <a:ext cx="2548622" cy="1484667"/>
          </a:xfrm>
          <a:prstGeom prst="rect">
            <a:avLst/>
          </a:prstGeom>
          <a:noFill/>
          <a:ln/>
        </p:spPr>
        <p:txBody>
          <a:bodyPr wrap="square" lIns="0" tIns="0" rIns="0" bIns="0" rtlCol="0" anchor="t"/>
          <a:lstStyle/>
          <a:p>
            <a:pPr algn="l" indent="0" marL="0">
              <a:lnSpc>
                <a:spcPts val="1950"/>
              </a:lnSpc>
              <a:buNone/>
            </a:pPr>
            <a:r>
              <a:rPr lang="en-US" sz="1300" dirty="0">
                <a:solidFill>
                  <a:srgbClr val="252525"/>
                </a:solidFill>
                <a:latin typeface="Inter" pitchFamily="34" charset="0"/>
                <a:ea typeface="Inter" pitchFamily="34" charset="-122"/>
                <a:cs typeface="Inter" pitchFamily="34" charset="-120"/>
              </a:rPr>
              <a:t>An agent arriving over an open interface brings its own model, data, tools and purpose. The host enforces at the tool boundary. Governance has to see all the systems.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7959"/>
          </a:xfrm>
          <a:prstGeom prst="rect">
            <a:avLst/>
          </a:prstGeom>
        </p:spPr>
      </p:pic>
      <p:sp>
        <p:nvSpPr>
          <p:cNvPr id="3" name="Text 0"/>
          <p:cNvSpPr/>
          <p:nvPr/>
        </p:nvSpPr>
        <p:spPr>
          <a:xfrm>
            <a:off x="830521" y="943985"/>
            <a:ext cx="2842350" cy="920435"/>
          </a:xfrm>
          <a:prstGeom prst="rect">
            <a:avLst/>
          </a:prstGeom>
          <a:noFill/>
          <a:ln/>
        </p:spPr>
        <p:txBody>
          <a:bodyPr wrap="square" lIns="0" tIns="0" rIns="0" bIns="0" rtlCol="0" anchor="t"/>
          <a:lstStyle/>
          <a:p>
            <a:pPr algn="l" indent="0" marL="0">
              <a:lnSpc>
                <a:spcPts val="3620"/>
              </a:lnSpc>
              <a:buNone/>
            </a:pPr>
            <a:r>
              <a:rPr lang="en-US" sz="3240" dirty="0">
                <a:solidFill>
                  <a:srgbClr val="252525"/>
                </a:solidFill>
                <a:latin typeface="Copyright Peregrin Studio" pitchFamily="34" charset="0"/>
                <a:ea typeface="Copyright Peregrin Studio" pitchFamily="34" charset="-122"/>
                <a:cs typeface="Copyright Peregrin Studio" pitchFamily="34" charset="-120"/>
              </a:rPr>
              <a:t>Two layers, one loop</a:t>
            </a:r>
            <a:endParaRPr lang="en-US" sz="3240" dirty="0"/>
          </a:p>
        </p:txBody>
      </p:sp>
      <p:sp>
        <p:nvSpPr>
          <p:cNvPr id="4" name="Text 1"/>
          <p:cNvSpPr/>
          <p:nvPr/>
        </p:nvSpPr>
        <p:spPr>
          <a:xfrm>
            <a:off x="830521" y="1983645"/>
            <a:ext cx="2842350" cy="1237223"/>
          </a:xfrm>
          <a:prstGeom prst="rect">
            <a:avLst/>
          </a:prstGeom>
          <a:noFill/>
          <a:ln/>
        </p:spPr>
        <p:txBody>
          <a:bodyPr wrap="square" lIns="0" tIns="0" rIns="0" bIns="0" rtlCol="0" anchor="t"/>
          <a:lstStyle/>
          <a:p>
            <a:pPr algn="l" indent="0" marL="0">
              <a:lnSpc>
                <a:spcPts val="1950"/>
              </a:lnSpc>
              <a:buNone/>
            </a:pPr>
            <a:r>
              <a:rPr lang="en-US" sz="1300" dirty="0">
                <a:solidFill>
                  <a:srgbClr val="252525"/>
                </a:solidFill>
                <a:latin typeface="Inter" pitchFamily="34" charset="0"/>
                <a:ea typeface="Inter" pitchFamily="34" charset="-122"/>
                <a:cs typeface="Inter" pitchFamily="34" charset="-120"/>
              </a:rPr>
              <a:t>Governance </a:t>
            </a:r>
            <a:pPr algn="l" indent="0" marL="0">
              <a:lnSpc>
                <a:spcPts val="1950"/>
              </a:lnSpc>
              <a:buNone/>
            </a:pPr>
            <a:r>
              <a:rPr lang="en-US" sz="1300" b="1" dirty="0">
                <a:solidFill>
                  <a:srgbClr val="252525"/>
                </a:solidFill>
                <a:latin typeface="Inter" pitchFamily="34" charset="0"/>
                <a:ea typeface="Inter" pitchFamily="34" charset="-122"/>
                <a:cs typeface="Inter" pitchFamily="34" charset="-120"/>
              </a:rPr>
              <a:t>decides</a:t>
            </a:r>
            <a:pPr algn="l" indent="0" marL="0">
              <a:lnSpc>
                <a:spcPts val="1950"/>
              </a:lnSpc>
              <a:buNone/>
            </a:pPr>
            <a:r>
              <a:rPr lang="en-US" sz="1300" dirty="0">
                <a:solidFill>
                  <a:srgbClr val="252525"/>
                </a:solidFill>
                <a:latin typeface="Inter" pitchFamily="34" charset="0"/>
                <a:ea typeface="Inter" pitchFamily="34" charset="-122"/>
                <a:cs typeface="Inter" pitchFamily="34" charset="-120"/>
              </a:rPr>
              <a:t>: the tier, the control set, the owner, the evidence required. It has to cover every runtime, including those with no enforcement of their own.</a:t>
            </a:r>
            <a:endParaRPr lang="en-US" sz="1300" dirty="0"/>
          </a:p>
        </p:txBody>
      </p:sp>
      <p:sp>
        <p:nvSpPr>
          <p:cNvPr id="5" name="Text 2"/>
          <p:cNvSpPr/>
          <p:nvPr/>
        </p:nvSpPr>
        <p:spPr>
          <a:xfrm>
            <a:off x="830521" y="3330116"/>
            <a:ext cx="2842350" cy="989778"/>
          </a:xfrm>
          <a:prstGeom prst="rect">
            <a:avLst/>
          </a:prstGeom>
          <a:noFill/>
          <a:ln/>
        </p:spPr>
        <p:txBody>
          <a:bodyPr wrap="square" lIns="0" tIns="0" rIns="0" bIns="0" rtlCol="0" anchor="t"/>
          <a:lstStyle/>
          <a:p>
            <a:pPr algn="l" indent="0" marL="0">
              <a:lnSpc>
                <a:spcPts val="1950"/>
              </a:lnSpc>
              <a:buNone/>
            </a:pPr>
            <a:r>
              <a:rPr lang="en-US" sz="1300" dirty="0">
                <a:solidFill>
                  <a:srgbClr val="252525"/>
                </a:solidFill>
                <a:latin typeface="Inter" pitchFamily="34" charset="0"/>
                <a:ea typeface="Inter" pitchFamily="34" charset="-122"/>
                <a:cs typeface="Inter" pitchFamily="34" charset="-120"/>
              </a:rPr>
              <a:t>Enforcement applies the decision at the moment of action: allow, block, escalate. It lives in each runtime and must be fast.</a:t>
            </a:r>
            <a:endParaRPr lang="en-US" sz="1300" dirty="0"/>
          </a:p>
        </p:txBody>
      </p:sp>
      <p:sp>
        <p:nvSpPr>
          <p:cNvPr id="6" name="Text 3"/>
          <p:cNvSpPr/>
          <p:nvPr/>
        </p:nvSpPr>
        <p:spPr>
          <a:xfrm>
            <a:off x="830521" y="4429143"/>
            <a:ext cx="2842350" cy="1484667"/>
          </a:xfrm>
          <a:prstGeom prst="rect">
            <a:avLst/>
          </a:prstGeom>
          <a:noFill/>
          <a:ln/>
        </p:spPr>
        <p:txBody>
          <a:bodyPr wrap="square" lIns="0" tIns="0" rIns="0" bIns="0" rtlCol="0" anchor="t"/>
          <a:lstStyle/>
          <a:p>
            <a:pPr algn="l" indent="0" marL="0">
              <a:lnSpc>
                <a:spcPts val="1950"/>
              </a:lnSpc>
              <a:buNone/>
            </a:pPr>
            <a:r>
              <a:rPr lang="en-US" sz="1300" dirty="0">
                <a:solidFill>
                  <a:srgbClr val="252525"/>
                </a:solidFill>
                <a:latin typeface="Inter" pitchFamily="34" charset="0"/>
                <a:ea typeface="Inter" pitchFamily="34" charset="-122"/>
                <a:cs typeface="Inter" pitchFamily="34" charset="-120"/>
              </a:rPr>
              <a:t>ROADMAP: Controls are authored once, with prose for the person and parameters for the machine, then compiled per runtime. Saidot enables enforcement. It does not sit in the hot path.</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7959"/>
          </a:xfrm>
          <a:prstGeom prst="rect">
            <a:avLst/>
          </a:prstGeom>
        </p:spPr>
      </p:pic>
      <p:sp>
        <p:nvSpPr>
          <p:cNvPr id="3" name="Text 0"/>
          <p:cNvSpPr/>
          <p:nvPr/>
        </p:nvSpPr>
        <p:spPr>
          <a:xfrm>
            <a:off x="8812856" y="112683"/>
            <a:ext cx="2548622" cy="1840870"/>
          </a:xfrm>
          <a:prstGeom prst="rect">
            <a:avLst/>
          </a:prstGeom>
          <a:noFill/>
          <a:ln/>
        </p:spPr>
        <p:txBody>
          <a:bodyPr wrap="square" lIns="0" tIns="0" rIns="0" bIns="0" rtlCol="0" anchor="t"/>
          <a:lstStyle/>
          <a:p>
            <a:pPr algn="l" indent="0" marL="0">
              <a:lnSpc>
                <a:spcPts val="3620"/>
              </a:lnSpc>
              <a:buNone/>
            </a:pPr>
            <a:r>
              <a:rPr lang="en-US" sz="3240" dirty="0">
                <a:solidFill>
                  <a:srgbClr val="252525"/>
                </a:solidFill>
                <a:latin typeface="Copyright Peregrin Studio" pitchFamily="34" charset="0"/>
                <a:ea typeface="Copyright Peregrin Studio" pitchFamily="34" charset="-122"/>
                <a:cs typeface="Copyright Peregrin Studio" pitchFamily="34" charset="-120"/>
              </a:rPr>
              <a:t>Evidence comes back from production</a:t>
            </a:r>
            <a:endParaRPr lang="en-US" sz="3240" dirty="0"/>
          </a:p>
        </p:txBody>
      </p:sp>
      <p:sp>
        <p:nvSpPr>
          <p:cNvPr id="4" name="Text 1"/>
          <p:cNvSpPr/>
          <p:nvPr/>
        </p:nvSpPr>
        <p:spPr>
          <a:xfrm>
            <a:off x="8812856" y="2072777"/>
            <a:ext cx="2548622" cy="1484667"/>
          </a:xfrm>
          <a:prstGeom prst="rect">
            <a:avLst/>
          </a:prstGeom>
          <a:noFill/>
          <a:ln/>
        </p:spPr>
        <p:txBody>
          <a:bodyPr wrap="square" lIns="0" tIns="0" rIns="0" bIns="0" rtlCol="0" anchor="t"/>
          <a:lstStyle/>
          <a:p>
            <a:pPr algn="l" indent="0" marL="0">
              <a:lnSpc>
                <a:spcPts val="1950"/>
              </a:lnSpc>
              <a:buNone/>
            </a:pPr>
            <a:r>
              <a:rPr lang="en-US" sz="1300" dirty="0">
                <a:solidFill>
                  <a:srgbClr val="252525"/>
                </a:solidFill>
                <a:latin typeface="Inter" pitchFamily="34" charset="0"/>
                <a:ea typeface="Inter" pitchFamily="34" charset="-122"/>
                <a:cs typeface="Inter" pitchFamily="34" charset="-120"/>
              </a:rPr>
              <a:t>Runtime observability events are ingested from the AI stack. An event can open an incident, trigger a review or change the risk level on an agent, a model or a system.</a:t>
            </a:r>
            <a:endParaRPr lang="en-US" sz="1300" dirty="0"/>
          </a:p>
        </p:txBody>
      </p:sp>
      <p:sp>
        <p:nvSpPr>
          <p:cNvPr id="5" name="Text 2"/>
          <p:cNvSpPr/>
          <p:nvPr/>
        </p:nvSpPr>
        <p:spPr>
          <a:xfrm>
            <a:off x="8812856" y="3666693"/>
            <a:ext cx="2548622" cy="2227001"/>
          </a:xfrm>
          <a:prstGeom prst="rect">
            <a:avLst/>
          </a:prstGeom>
          <a:noFill/>
          <a:ln/>
        </p:spPr>
        <p:txBody>
          <a:bodyPr wrap="square" lIns="0" tIns="0" rIns="0" bIns="0" rtlCol="0" anchor="t"/>
          <a:lstStyle/>
          <a:p>
            <a:pPr algn="l" indent="0" marL="0">
              <a:lnSpc>
                <a:spcPts val="1950"/>
              </a:lnSpc>
              <a:buNone/>
            </a:pPr>
            <a:r>
              <a:rPr lang="en-US" sz="1300" dirty="0">
                <a:solidFill>
                  <a:srgbClr val="252525"/>
                </a:solidFill>
                <a:latin typeface="Inter" pitchFamily="34" charset="0"/>
                <a:ea typeface="Inter" pitchFamily="34" charset="-122"/>
                <a:cs typeface="Inter" pitchFamily="34" charset="-120"/>
              </a:rPr>
              <a:t>Evidence attaches to the control on the system's record, with the classification, the approvals and the audit trail beside it. Reused across systems, exported on demand - and traceable from the obligation to the event that proved it.</a:t>
            </a:r>
            <a:endParaRPr lang="en-US" sz="1300" dirty="0"/>
          </a:p>
        </p:txBody>
      </p:sp>
      <p:sp>
        <p:nvSpPr>
          <p:cNvPr id="6" name="Text 3"/>
          <p:cNvSpPr/>
          <p:nvPr/>
        </p:nvSpPr>
        <p:spPr>
          <a:xfrm>
            <a:off x="8812856" y="6002943"/>
            <a:ext cx="2548622" cy="742334"/>
          </a:xfrm>
          <a:prstGeom prst="rect">
            <a:avLst/>
          </a:prstGeom>
          <a:noFill/>
          <a:ln/>
        </p:spPr>
        <p:txBody>
          <a:bodyPr wrap="square" lIns="0" tIns="0" rIns="0" bIns="0" rtlCol="0" anchor="t"/>
          <a:lstStyle/>
          <a:p>
            <a:pPr algn="l" indent="0" marL="0">
              <a:lnSpc>
                <a:spcPts val="1950"/>
              </a:lnSpc>
              <a:buNone/>
            </a:pPr>
            <a:r>
              <a:rPr lang="en-US" sz="1300" dirty="0">
                <a:solidFill>
                  <a:srgbClr val="252525"/>
                </a:solidFill>
                <a:latin typeface="Inter" pitchFamily="34" charset="0"/>
                <a:ea typeface="Inter" pitchFamily="34" charset="-122"/>
                <a:cs typeface="Inter" pitchFamily="34" charset="-120"/>
              </a:rPr>
              <a:t>A runtime that cannot check a control returns that as a named gap. Never a silent pass.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7959"/>
          </a:xfrm>
          <a:prstGeom prst="rect">
            <a:avLst/>
          </a:prstGeom>
        </p:spPr>
      </p:pic>
      <p:sp>
        <p:nvSpPr>
          <p:cNvPr id="3" name="Text 0"/>
          <p:cNvSpPr/>
          <p:nvPr/>
        </p:nvSpPr>
        <p:spPr>
          <a:xfrm>
            <a:off x="830521" y="886908"/>
            <a:ext cx="10530958" cy="554583"/>
          </a:xfrm>
          <a:prstGeom prst="rect">
            <a:avLst/>
          </a:prstGeom>
          <a:noFill/>
          <a:ln/>
        </p:spPr>
        <p:txBody>
          <a:bodyPr wrap="square" lIns="0" tIns="0" rIns="0" bIns="0" rtlCol="0" anchor="t"/>
          <a:lstStyle/>
          <a:p>
            <a:pPr algn="l" indent="0" marL="0">
              <a:lnSpc>
                <a:spcPts val="4370"/>
              </a:lnSpc>
              <a:buNone/>
            </a:pPr>
            <a:r>
              <a:rPr lang="en-US" sz="3900" dirty="0">
                <a:solidFill>
                  <a:srgbClr val="000000"/>
                </a:solidFill>
                <a:latin typeface="Copyright Peregrin Studio" pitchFamily="34" charset="0"/>
                <a:ea typeface="Copyright Peregrin Studio" pitchFamily="34" charset="-122"/>
                <a:cs typeface="Copyright Peregrin Studio" pitchFamily="34" charset="-120"/>
              </a:rPr>
              <a:t>Governance stays a gate. It stops being a queue.</a:t>
            </a:r>
            <a:endParaRPr lang="en-US" sz="3900" dirty="0"/>
          </a:p>
        </p:txBody>
      </p:sp>
      <p:sp>
        <p:nvSpPr>
          <p:cNvPr id="4" name="Text 1"/>
          <p:cNvSpPr/>
          <p:nvPr/>
        </p:nvSpPr>
        <p:spPr>
          <a:xfrm>
            <a:off x="830521" y="2122168"/>
            <a:ext cx="3355229" cy="298307"/>
          </a:xfrm>
          <a:prstGeom prst="rect">
            <a:avLst/>
          </a:prstGeom>
          <a:noFill/>
          <a:ln/>
        </p:spPr>
        <p:txBody>
          <a:bodyPr wrap="square" lIns="0" tIns="0" rIns="0" bIns="0" rtlCol="0" anchor="t"/>
          <a:lstStyle/>
          <a:p>
            <a:pPr algn="l" indent="0" marL="0">
              <a:lnSpc>
                <a:spcPts val="2350"/>
              </a:lnSpc>
              <a:buNone/>
            </a:pPr>
            <a:r>
              <a:rPr lang="en-US" sz="1570" b="1" dirty="0">
                <a:solidFill>
                  <a:srgbClr val="252525"/>
                </a:solidFill>
                <a:latin typeface="Inter" pitchFamily="34" charset="0"/>
                <a:ea typeface="Inter" pitchFamily="34" charset="-122"/>
                <a:cs typeface="Inter" pitchFamily="34" charset="-120"/>
              </a:rPr>
              <a:t>Workflows</a:t>
            </a:r>
            <a:endParaRPr lang="en-US" sz="1570" dirty="0"/>
          </a:p>
        </p:txBody>
      </p:sp>
      <p:sp>
        <p:nvSpPr>
          <p:cNvPr id="5" name="Text 2"/>
          <p:cNvSpPr/>
          <p:nvPr/>
        </p:nvSpPr>
        <p:spPr>
          <a:xfrm>
            <a:off x="830521" y="2489982"/>
            <a:ext cx="3355229" cy="2088151"/>
          </a:xfrm>
          <a:prstGeom prst="rect">
            <a:avLst/>
          </a:prstGeom>
          <a:noFill/>
          <a:ln/>
        </p:spPr>
        <p:txBody>
          <a:bodyPr wrap="square" lIns="0" tIns="0" rIns="0" bIns="0" rtlCol="0" anchor="t"/>
          <a:lstStyle/>
          <a:p>
            <a:pPr algn="l" indent="0" marL="0">
              <a:lnSpc>
                <a:spcPts val="2350"/>
              </a:lnSpc>
              <a:buNone/>
            </a:pPr>
            <a:r>
              <a:rPr lang="en-US" sz="1570" dirty="0">
                <a:solidFill>
                  <a:srgbClr val="626262"/>
                </a:solidFill>
                <a:latin typeface="Inter" pitchFamily="34" charset="0"/>
                <a:ea typeface="Inter" pitchFamily="34" charset="-122"/>
                <a:cs typeface="Inter" pitchFamily="34" charset="-120"/>
              </a:rPr>
              <a:t>Rules do the routine. AI Act classification runs on registration and on change. Risks, risk levels and controls are inherited through the graph to every system whose properties match. Lifecycle stages gate on approval.</a:t>
            </a:r>
            <a:endParaRPr lang="en-US" sz="1570" dirty="0"/>
          </a:p>
        </p:txBody>
      </p:sp>
      <p:sp>
        <p:nvSpPr>
          <p:cNvPr id="6" name="Text 3"/>
          <p:cNvSpPr/>
          <p:nvPr/>
        </p:nvSpPr>
        <p:spPr>
          <a:xfrm>
            <a:off x="4418385" y="2122168"/>
            <a:ext cx="3355229" cy="298307"/>
          </a:xfrm>
          <a:prstGeom prst="rect">
            <a:avLst/>
          </a:prstGeom>
          <a:noFill/>
          <a:ln/>
        </p:spPr>
        <p:txBody>
          <a:bodyPr wrap="square" lIns="0" tIns="0" rIns="0" bIns="0" rtlCol="0" anchor="t"/>
          <a:lstStyle/>
          <a:p>
            <a:pPr algn="l" indent="0" marL="0">
              <a:lnSpc>
                <a:spcPts val="2350"/>
              </a:lnSpc>
              <a:buNone/>
            </a:pPr>
            <a:r>
              <a:rPr lang="en-US" sz="1570" b="1" dirty="0">
                <a:solidFill>
                  <a:srgbClr val="252525"/>
                </a:solidFill>
                <a:latin typeface="Inter" pitchFamily="34" charset="0"/>
                <a:ea typeface="Inter" pitchFamily="34" charset="-122"/>
                <a:cs typeface="Inter" pitchFamily="34" charset="-120"/>
              </a:rPr>
              <a:t>Tasks</a:t>
            </a:r>
            <a:endParaRPr lang="en-US" sz="1570" dirty="0"/>
          </a:p>
        </p:txBody>
      </p:sp>
      <p:sp>
        <p:nvSpPr>
          <p:cNvPr id="7" name="Text 4"/>
          <p:cNvSpPr/>
          <p:nvPr/>
        </p:nvSpPr>
        <p:spPr>
          <a:xfrm>
            <a:off x="4418385" y="2489982"/>
            <a:ext cx="3355229" cy="2088151"/>
          </a:xfrm>
          <a:prstGeom prst="rect">
            <a:avLst/>
          </a:prstGeom>
          <a:noFill/>
          <a:ln/>
        </p:spPr>
        <p:txBody>
          <a:bodyPr wrap="square" lIns="0" tIns="0" rIns="0" bIns="0" rtlCol="0" anchor="t"/>
          <a:lstStyle/>
          <a:p>
            <a:pPr algn="l" indent="0" marL="0">
              <a:lnSpc>
                <a:spcPts val="2350"/>
              </a:lnSpc>
              <a:buNone/>
            </a:pPr>
            <a:r>
              <a:rPr lang="en-US" sz="1570" dirty="0">
                <a:solidFill>
                  <a:srgbClr val="626262"/>
                </a:solidFill>
                <a:latin typeface="Inter" pitchFamily="34" charset="0"/>
                <a:ea typeface="Inter" pitchFamily="34" charset="-122"/>
                <a:cs typeface="Inter" pitchFamily="34" charset="-120"/>
              </a:rPr>
              <a:t>The human process, modelled. Reviews, sign-offs and conformity assessments are raised for the role that owns them, when they are due. Accountability becomes named work, not a policy document.</a:t>
            </a:r>
            <a:endParaRPr lang="en-US" sz="1570" dirty="0"/>
          </a:p>
        </p:txBody>
      </p:sp>
      <p:sp>
        <p:nvSpPr>
          <p:cNvPr id="8" name="Text 5"/>
          <p:cNvSpPr/>
          <p:nvPr/>
        </p:nvSpPr>
        <p:spPr>
          <a:xfrm>
            <a:off x="8006249" y="2122168"/>
            <a:ext cx="3355229" cy="298307"/>
          </a:xfrm>
          <a:prstGeom prst="rect">
            <a:avLst/>
          </a:prstGeom>
          <a:noFill/>
          <a:ln/>
        </p:spPr>
        <p:txBody>
          <a:bodyPr wrap="square" lIns="0" tIns="0" rIns="0" bIns="0" rtlCol="0" anchor="t"/>
          <a:lstStyle/>
          <a:p>
            <a:pPr algn="l" indent="0" marL="0">
              <a:lnSpc>
                <a:spcPts val="2350"/>
              </a:lnSpc>
              <a:buNone/>
            </a:pPr>
            <a:r>
              <a:rPr lang="en-US" sz="1570" b="1" dirty="0">
                <a:solidFill>
                  <a:srgbClr val="252525"/>
                </a:solidFill>
                <a:latin typeface="Inter" pitchFamily="34" charset="0"/>
                <a:ea typeface="Inter" pitchFamily="34" charset="-122"/>
                <a:cs typeface="Inter" pitchFamily="34" charset="-120"/>
              </a:rPr>
              <a:t>Agents</a:t>
            </a:r>
            <a:endParaRPr lang="en-US" sz="1570" dirty="0"/>
          </a:p>
        </p:txBody>
      </p:sp>
      <p:sp>
        <p:nvSpPr>
          <p:cNvPr id="9" name="Text 6"/>
          <p:cNvSpPr/>
          <p:nvPr/>
        </p:nvSpPr>
        <p:spPr>
          <a:xfrm>
            <a:off x="8006249" y="2489982"/>
            <a:ext cx="3355229" cy="2684765"/>
          </a:xfrm>
          <a:prstGeom prst="rect">
            <a:avLst/>
          </a:prstGeom>
          <a:noFill/>
          <a:ln/>
        </p:spPr>
        <p:txBody>
          <a:bodyPr wrap="square" lIns="0" tIns="0" rIns="0" bIns="0" rtlCol="0" anchor="t"/>
          <a:lstStyle/>
          <a:p>
            <a:pPr algn="l" indent="0" marL="0">
              <a:lnSpc>
                <a:spcPts val="2350"/>
              </a:lnSpc>
              <a:buNone/>
            </a:pPr>
            <a:r>
              <a:rPr lang="en-US" sz="1570" dirty="0">
                <a:solidFill>
                  <a:srgbClr val="626262"/>
                </a:solidFill>
                <a:latin typeface="Inter" pitchFamily="34" charset="0"/>
                <a:ea typeface="Inter" pitchFamily="34" charset="-122"/>
                <a:cs typeface="Inter" pitchFamily="34" charset="-120"/>
              </a:rPr>
              <a:t>Governance, Library and Docs MCP servers put the platform in front of any AI assistant. An agent registers the system from the deployment it sees, drafts the assessment, attaches evidence and opens the approval. 95% of the platform is operable over the REST API.</a:t>
            </a:r>
            <a:endParaRPr lang="en-US" sz="1570" dirty="0"/>
          </a:p>
        </p:txBody>
      </p:sp>
      <p:sp>
        <p:nvSpPr>
          <p:cNvPr id="10" name="Text 7"/>
          <p:cNvSpPr/>
          <p:nvPr/>
        </p:nvSpPr>
        <p:spPr>
          <a:xfrm>
            <a:off x="830521" y="5476162"/>
            <a:ext cx="10530958" cy="494889"/>
          </a:xfrm>
          <a:prstGeom prst="rect">
            <a:avLst/>
          </a:prstGeom>
          <a:noFill/>
          <a:ln/>
        </p:spPr>
        <p:txBody>
          <a:bodyPr wrap="square" lIns="0" tIns="0" rIns="0" bIns="0" rtlCol="0" anchor="t"/>
          <a:lstStyle/>
          <a:p>
            <a:pPr algn="l" indent="0" marL="0">
              <a:lnSpc>
                <a:spcPts val="1950"/>
              </a:lnSpc>
              <a:buNone/>
            </a:pPr>
            <a:r>
              <a:rPr lang="en-US" sz="1300" dirty="0">
                <a:solidFill>
                  <a:srgbClr val="626262"/>
                </a:solidFill>
                <a:latin typeface="Inter" pitchFamily="34" charset="0"/>
                <a:ea typeface="Inter" pitchFamily="34" charset="-122"/>
                <a:cs typeface="Inter" pitchFamily="34" charset="-120"/>
              </a:rPr>
              <a:t>The same three doors are how a delivery organisation embeds governance into client engagements without adding a manual step to each one.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7959"/>
          </a:xfrm>
          <a:prstGeom prst="rect">
            <a:avLst/>
          </a:prstGeom>
        </p:spPr>
      </p:pic>
      <p:sp>
        <p:nvSpPr>
          <p:cNvPr id="3" name="Text 0"/>
          <p:cNvSpPr/>
          <p:nvPr/>
        </p:nvSpPr>
        <p:spPr>
          <a:xfrm>
            <a:off x="830521" y="885600"/>
            <a:ext cx="10530958" cy="510262"/>
          </a:xfrm>
          <a:prstGeom prst="rect">
            <a:avLst/>
          </a:prstGeom>
          <a:noFill/>
          <a:ln/>
        </p:spPr>
        <p:txBody>
          <a:bodyPr wrap="square" lIns="0" tIns="0" rIns="0" bIns="0" rtlCol="0" anchor="t"/>
          <a:lstStyle/>
          <a:p>
            <a:pPr algn="l" indent="0" marL="0">
              <a:lnSpc>
                <a:spcPts val="4020"/>
              </a:lnSpc>
              <a:buNone/>
            </a:pPr>
            <a:r>
              <a:rPr lang="en-US" sz="3590" dirty="0">
                <a:solidFill>
                  <a:srgbClr val="010101"/>
                </a:solidFill>
                <a:latin typeface="Copyright Peregrin Studio" pitchFamily="34" charset="0"/>
                <a:ea typeface="Copyright Peregrin Studio" pitchFamily="34" charset="-122"/>
                <a:cs typeface="Copyright Peregrin Studio" pitchFamily="34" charset="-120"/>
              </a:rPr>
              <a:t>Status and roadmap</a:t>
            </a:r>
            <a:endParaRPr lang="en-US" sz="3590" dirty="0"/>
          </a:p>
        </p:txBody>
      </p:sp>
      <p:sp>
        <p:nvSpPr>
          <p:cNvPr id="4" name="Text 1"/>
          <p:cNvSpPr/>
          <p:nvPr/>
        </p:nvSpPr>
        <p:spPr>
          <a:xfrm>
            <a:off x="1060466" y="2098781"/>
            <a:ext cx="2879966" cy="274430"/>
          </a:xfrm>
          <a:prstGeom prst="rect">
            <a:avLst/>
          </a:prstGeom>
          <a:noFill/>
          <a:ln/>
        </p:spPr>
        <p:txBody>
          <a:bodyPr wrap="square" lIns="0" tIns="0" rIns="0" bIns="0" rtlCol="0" anchor="t"/>
          <a:lstStyle/>
          <a:p>
            <a:pPr algn="l" indent="0" marL="0">
              <a:lnSpc>
                <a:spcPts val="2160"/>
              </a:lnSpc>
              <a:buNone/>
            </a:pPr>
            <a:r>
              <a:rPr lang="en-US" sz="1440" b="1" dirty="0">
                <a:solidFill>
                  <a:srgbClr val="FFFFFF"/>
                </a:solidFill>
                <a:latin typeface="Inter" pitchFamily="34" charset="0"/>
                <a:ea typeface="Inter" pitchFamily="34" charset="-122"/>
                <a:cs typeface="Inter" pitchFamily="34" charset="-120"/>
              </a:rPr>
              <a:t>Shipped</a:t>
            </a:r>
            <a:endParaRPr lang="en-US" sz="1440" dirty="0"/>
          </a:p>
        </p:txBody>
      </p:sp>
      <p:sp>
        <p:nvSpPr>
          <p:cNvPr id="5" name="Text 2"/>
          <p:cNvSpPr/>
          <p:nvPr/>
        </p:nvSpPr>
        <p:spPr>
          <a:xfrm>
            <a:off x="1060466" y="2437157"/>
            <a:ext cx="2879966" cy="2775860"/>
          </a:xfrm>
          <a:prstGeom prst="rect">
            <a:avLst/>
          </a:prstGeom>
          <a:noFill/>
          <a:ln/>
        </p:spPr>
        <p:txBody>
          <a:bodyPr wrap="square" lIns="0" tIns="0" rIns="0" bIns="0" rtlCol="0" anchor="t"/>
          <a:lstStyle/>
          <a:p>
            <a:pPr algn="l" indent="0" marL="0">
              <a:lnSpc>
                <a:spcPts val="1990"/>
              </a:lnSpc>
              <a:buNone/>
            </a:pPr>
            <a:r>
              <a:rPr lang="en-US" sz="1330" dirty="0">
                <a:solidFill>
                  <a:srgbClr val="010101"/>
                </a:solidFill>
                <a:latin typeface="Inter" pitchFamily="34" charset="0"/>
                <a:ea typeface="Inter" pitchFamily="34" charset="-122"/>
                <a:cs typeface="Inter" pitchFamily="34" charset="-120"/>
              </a:rPr>
              <a:t>Observability API, Q2 2026. Governance, Library and Docs MCP servers. Full REST API, including control catalogue read and write. Connectors for Azure AI Foundry and Amazon Bedrock (models &amp; agents). Custom policies, so a client's existing control catalogue enters the graph as controls, not as a document. Tasks for the human process.</a:t>
            </a:r>
            <a:endParaRPr lang="en-US" sz="1330" dirty="0"/>
          </a:p>
        </p:txBody>
      </p:sp>
      <p:sp>
        <p:nvSpPr>
          <p:cNvPr id="6" name="Text 3"/>
          <p:cNvSpPr/>
          <p:nvPr/>
        </p:nvSpPr>
        <p:spPr>
          <a:xfrm>
            <a:off x="4656017" y="2098781"/>
            <a:ext cx="2879966" cy="274430"/>
          </a:xfrm>
          <a:prstGeom prst="rect">
            <a:avLst/>
          </a:prstGeom>
          <a:noFill/>
          <a:ln/>
        </p:spPr>
        <p:txBody>
          <a:bodyPr wrap="square" lIns="0" tIns="0" rIns="0" bIns="0" rtlCol="0" anchor="t"/>
          <a:lstStyle/>
          <a:p>
            <a:pPr algn="l" indent="0" marL="0">
              <a:lnSpc>
                <a:spcPts val="2160"/>
              </a:lnSpc>
              <a:buNone/>
            </a:pPr>
            <a:r>
              <a:rPr lang="en-US" sz="1440" b="1" dirty="0">
                <a:solidFill>
                  <a:srgbClr val="FFFFFF"/>
                </a:solidFill>
                <a:latin typeface="Inter" pitchFamily="34" charset="0"/>
                <a:ea typeface="Inter" pitchFamily="34" charset="-122"/>
                <a:cs typeface="Inter" pitchFamily="34" charset="-120"/>
              </a:rPr>
              <a:t>In development</a:t>
            </a:r>
            <a:endParaRPr lang="en-US" sz="1440" dirty="0"/>
          </a:p>
        </p:txBody>
      </p:sp>
      <p:sp>
        <p:nvSpPr>
          <p:cNvPr id="7" name="Text 4"/>
          <p:cNvSpPr/>
          <p:nvPr/>
        </p:nvSpPr>
        <p:spPr>
          <a:xfrm>
            <a:off x="4656017" y="2437157"/>
            <a:ext cx="2879966" cy="757053"/>
          </a:xfrm>
          <a:prstGeom prst="rect">
            <a:avLst/>
          </a:prstGeom>
          <a:noFill/>
          <a:ln/>
        </p:spPr>
        <p:txBody>
          <a:bodyPr wrap="square" lIns="0" tIns="0" rIns="0" bIns="0" rtlCol="0" anchor="t"/>
          <a:lstStyle/>
          <a:p>
            <a:pPr algn="l" indent="0" marL="0">
              <a:lnSpc>
                <a:spcPts val="1990"/>
              </a:lnSpc>
              <a:buNone/>
            </a:pPr>
            <a:r>
              <a:rPr lang="en-US" sz="1330" dirty="0">
                <a:solidFill>
                  <a:srgbClr val="010101"/>
                </a:solidFill>
                <a:latin typeface="Inter" pitchFamily="34" charset="0"/>
                <a:ea typeface="Inter" pitchFamily="34" charset="-122"/>
                <a:cs typeface="Inter" pitchFamily="34" charset="-120"/>
              </a:rPr>
              <a:t>Tasks by role. Lifecycles, roles, thresholds and templates per organisation.</a:t>
            </a:r>
            <a:endParaRPr lang="en-US" sz="1330" dirty="0"/>
          </a:p>
        </p:txBody>
      </p:sp>
      <p:sp>
        <p:nvSpPr>
          <p:cNvPr id="8" name="Text 5"/>
          <p:cNvSpPr/>
          <p:nvPr/>
        </p:nvSpPr>
        <p:spPr>
          <a:xfrm>
            <a:off x="8251568" y="2098781"/>
            <a:ext cx="2879966" cy="274430"/>
          </a:xfrm>
          <a:prstGeom prst="rect">
            <a:avLst/>
          </a:prstGeom>
          <a:noFill/>
          <a:ln/>
        </p:spPr>
        <p:txBody>
          <a:bodyPr wrap="square" lIns="0" tIns="0" rIns="0" bIns="0" rtlCol="0" anchor="t"/>
          <a:lstStyle/>
          <a:p>
            <a:pPr algn="l" indent="0" marL="0">
              <a:lnSpc>
                <a:spcPts val="2160"/>
              </a:lnSpc>
              <a:buNone/>
            </a:pPr>
            <a:r>
              <a:rPr lang="en-US" sz="1440" b="1" dirty="0">
                <a:solidFill>
                  <a:srgbClr val="FFFFFF"/>
                </a:solidFill>
                <a:latin typeface="Inter" pitchFamily="34" charset="0"/>
                <a:ea typeface="Inter" pitchFamily="34" charset="-122"/>
                <a:cs typeface="Inter" pitchFamily="34" charset="-120"/>
              </a:rPr>
              <a:t>Policy as code, roadmap</a:t>
            </a:r>
            <a:endParaRPr lang="en-US" sz="1440" dirty="0"/>
          </a:p>
        </p:txBody>
      </p:sp>
      <p:sp>
        <p:nvSpPr>
          <p:cNvPr id="9" name="Text 6"/>
          <p:cNvSpPr/>
          <p:nvPr/>
        </p:nvSpPr>
        <p:spPr>
          <a:xfrm>
            <a:off x="8251568" y="2437157"/>
            <a:ext cx="2879966" cy="504702"/>
          </a:xfrm>
          <a:prstGeom prst="rect">
            <a:avLst/>
          </a:prstGeom>
          <a:noFill/>
          <a:ln/>
        </p:spPr>
        <p:txBody>
          <a:bodyPr wrap="square" lIns="0" tIns="0" rIns="0" bIns="0" rtlCol="0" anchor="t"/>
          <a:lstStyle/>
          <a:p>
            <a:pPr algn="l" indent="0" marL="0">
              <a:lnSpc>
                <a:spcPts val="1990"/>
              </a:lnSpc>
              <a:buNone/>
            </a:pPr>
            <a:r>
              <a:rPr lang="en-US" sz="1330" dirty="0">
                <a:solidFill>
                  <a:srgbClr val="010101"/>
                </a:solidFill>
                <a:latin typeface="Inter" pitchFamily="34" charset="0"/>
                <a:ea typeface="Inter" pitchFamily="34" charset="-122"/>
                <a:cs typeface="Inter" pitchFamily="34" charset="-120"/>
              </a:rPr>
              <a:t>Controls: supporting compilation to each runtime's own policy engine.</a:t>
            </a:r>
            <a:endParaRPr lang="en-US" sz="1330" dirty="0"/>
          </a:p>
        </p:txBody>
      </p:sp>
      <p:sp>
        <p:nvSpPr>
          <p:cNvPr id="10" name="Text 7"/>
          <p:cNvSpPr/>
          <p:nvPr/>
        </p:nvSpPr>
        <p:spPr>
          <a:xfrm>
            <a:off x="830521" y="5744377"/>
            <a:ext cx="10530958" cy="227819"/>
          </a:xfrm>
          <a:prstGeom prst="rect">
            <a:avLst/>
          </a:prstGeom>
          <a:noFill/>
          <a:ln/>
        </p:spPr>
        <p:txBody>
          <a:bodyPr wrap="square" lIns="0" tIns="0" rIns="0" bIns="0" rtlCol="0" anchor="t"/>
          <a:lstStyle/>
          <a:p>
            <a:pPr algn="l" indent="0" marL="0">
              <a:lnSpc>
                <a:spcPts val="1790"/>
              </a:lnSpc>
              <a:buNone/>
            </a:pPr>
            <a:r>
              <a:rPr lang="en-US" sz="1200" dirty="0">
                <a:solidFill>
                  <a:srgbClr val="010101"/>
                </a:solidFill>
                <a:latin typeface="Inter" pitchFamily="34" charset="0"/>
                <a:ea typeface="Inter" pitchFamily="34" charset="-122"/>
                <a:cs typeface="Inter" pitchFamily="34" charset="-120"/>
              </a:rPr>
              <a:t>One register, one control library, one risk model. Each runtime keeps enforcing its own.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2026-09-07T06:23:39Z</dcterms:created>
  <dcterms:modified xsi:type="dcterms:W3CDTF">2026-09-07T06:23:39Z</dcterms:modified>
</cp:coreProperties>
</file>